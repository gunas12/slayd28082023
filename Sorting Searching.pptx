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61" r:id="rId4"/>
    <p:sldId id="262" r:id="rId5"/>
    <p:sldId id="258"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18EB25-6EC2-4502-8038-9A6777E25AB6}" type="datetimeFigureOut">
              <a:rPr lang="en-US" smtClean="0"/>
              <a:t>8/28/2023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D6ECEA-DB1F-46B7-8D85-9E578249FA07}" type="slidenum">
              <a:rPr lang="en-US" smtClean="0"/>
              <a:t>‹#›</a:t>
            </a:fld>
            <a:endParaRPr lang="en-US"/>
          </a:p>
        </p:txBody>
      </p:sp>
    </p:spTree>
    <p:extLst>
      <p:ext uri="{BB962C8B-B14F-4D97-AF65-F5344CB8AC3E}">
        <p14:creationId xmlns:p14="http://schemas.microsoft.com/office/powerpoint/2010/main" val="2597961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37B1E1-2B1F-48B2-B679-042BFDEB5785}" type="datetimeFigureOut">
              <a:rPr lang="en-US" smtClean="0"/>
              <a:t>8/28/2023</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10CCC622-5434-40A2-BD18-29CCC487D07D}"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0758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37B1E1-2B1F-48B2-B679-042BFDEB5785}" type="datetimeFigureOut">
              <a:rPr lang="en-US" smtClean="0"/>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C622-5434-40A2-BD18-29CCC487D07D}"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90051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37B1E1-2B1F-48B2-B679-042BFDEB5785}" type="datetimeFigureOut">
              <a:rPr lang="en-US" smtClean="0"/>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C622-5434-40A2-BD18-29CCC487D07D}"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9657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437B1E1-2B1F-48B2-B679-042BFDEB5785}" type="datetimeFigureOut">
              <a:rPr lang="en-US" smtClean="0"/>
              <a:t>8/28/2023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C622-5434-40A2-BD18-29CCC487D07D}"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4256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37B1E1-2B1F-48B2-B679-042BFDEB5785}" type="datetimeFigureOut">
              <a:rPr lang="en-US" smtClean="0"/>
              <a:t>8/28/2023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CCC622-5434-40A2-BD18-29CCC487D07D}"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423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437B1E1-2B1F-48B2-B679-042BFDEB5785}" type="datetimeFigureOut">
              <a:rPr lang="en-US" smtClean="0"/>
              <a:t>8/28/2023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CCC622-5434-40A2-BD18-29CCC487D07D}"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91254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37B1E1-2B1F-48B2-B679-042BFDEB5785}" type="datetimeFigureOut">
              <a:rPr lang="en-US" smtClean="0"/>
              <a:t>8/28/2023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CCC622-5434-40A2-BD18-29CCC487D07D}" type="slidenum">
              <a:rPr lang="en-US" smtClean="0"/>
              <a:t>‹#›</a:t>
            </a:fld>
            <a:endParaRPr lang="en-US"/>
          </a:p>
        </p:txBody>
      </p:sp>
    </p:spTree>
    <p:extLst>
      <p:ext uri="{BB962C8B-B14F-4D97-AF65-F5344CB8AC3E}">
        <p14:creationId xmlns:p14="http://schemas.microsoft.com/office/powerpoint/2010/main" val="2054401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437B1E1-2B1F-48B2-B679-042BFDEB5785}" type="datetimeFigureOut">
              <a:rPr lang="en-US" smtClean="0"/>
              <a:t>8/28/2023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CC622-5434-40A2-BD18-29CCC487D07D}"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64083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437B1E1-2B1F-48B2-B679-042BFDEB5785}" type="datetimeFigureOut">
              <a:rPr lang="en-US" smtClean="0"/>
              <a:t>8/28/2023</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10CCC622-5434-40A2-BD18-29CCC487D07D}"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062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37B1E1-2B1F-48B2-B679-042BFDEB5785}" type="datetimeFigureOut">
              <a:rPr lang="en-US" smtClean="0"/>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C622-5434-40A2-BD18-29CCC487D07D}"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73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37B1E1-2B1F-48B2-B679-042BFDEB5785}" type="datetimeFigureOut">
              <a:rPr lang="en-US" smtClean="0"/>
              <a:t>8/28/2023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CC622-5434-40A2-BD18-29CCC487D07D}"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8120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437B1E1-2B1F-48B2-B679-042BFDEB5785}" type="datetimeFigureOut">
              <a:rPr lang="en-US" smtClean="0"/>
              <a:t>8/28/2023</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10CCC622-5434-40A2-BD18-29CCC487D07D}"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311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08CD4-D636-4B7B-94DE-1A4EFE776CB6}"/>
              </a:ext>
            </a:extLst>
          </p:cNvPr>
          <p:cNvSpPr>
            <a:spLocks noGrp="1"/>
          </p:cNvSpPr>
          <p:nvPr>
            <p:ph type="ctrTitle"/>
          </p:nvPr>
        </p:nvSpPr>
        <p:spPr>
          <a:xfrm>
            <a:off x="2292626" y="2232233"/>
            <a:ext cx="9144000" cy="1196767"/>
          </a:xfrm>
        </p:spPr>
        <p:txBody>
          <a:bodyPr/>
          <a:lstStyle/>
          <a:p>
            <a:r>
              <a:rPr lang="en-US" b="1" i="1" dirty="0">
                <a:solidFill>
                  <a:srgbClr val="000000"/>
                </a:solidFill>
                <a:effectLst>
                  <a:outerShdw blurRad="38100" dist="38100" dir="2700000" algn="tl">
                    <a:srgbClr val="000000">
                      <a:alpha val="43137"/>
                    </a:srgbClr>
                  </a:outerShdw>
                </a:effectLst>
                <a:latin typeface="Google Sans"/>
              </a:rPr>
              <a:t>Sorting Searching</a:t>
            </a:r>
            <a:endParaRPr lang="en-US" b="1" i="1" dirty="0">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D6418EA0-FC87-4B1D-948F-CA738AD34B8E}"/>
              </a:ext>
            </a:extLst>
          </p:cNvPr>
          <p:cNvSpPr>
            <a:spLocks noGrp="1"/>
          </p:cNvSpPr>
          <p:nvPr>
            <p:ph type="subTitle" idx="1"/>
          </p:nvPr>
        </p:nvSpPr>
        <p:spPr>
          <a:xfrm>
            <a:off x="7885043" y="6219341"/>
            <a:ext cx="4306957" cy="526774"/>
          </a:xfrm>
        </p:spPr>
        <p:txBody>
          <a:bodyPr/>
          <a:lstStyle/>
          <a:p>
            <a:r>
              <a:rPr lang="az-Latn-AZ" b="1" i="1" dirty="0">
                <a:effectLst>
                  <a:outerShdw blurRad="38100" dist="38100" dir="2700000" algn="tl">
                    <a:srgbClr val="000000">
                      <a:alpha val="43137"/>
                    </a:srgbClr>
                  </a:outerShdw>
                </a:effectLst>
              </a:rPr>
              <a:t>Yaratdı:Mammadov İbrahim</a:t>
            </a:r>
            <a:endParaRPr lang="en-US" b="1"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546876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D68F-CDEE-451F-BBD0-9B69170A238B}"/>
              </a:ext>
            </a:extLst>
          </p:cNvPr>
          <p:cNvSpPr>
            <a:spLocks noGrp="1"/>
          </p:cNvSpPr>
          <p:nvPr>
            <p:ph type="title"/>
          </p:nvPr>
        </p:nvSpPr>
        <p:spPr>
          <a:xfrm>
            <a:off x="1451579" y="804519"/>
            <a:ext cx="9603275" cy="971271"/>
          </a:xfrm>
        </p:spPr>
        <p:txBody>
          <a:bodyPr>
            <a:normAutofit/>
          </a:bodyPr>
          <a:lstStyle/>
          <a:p>
            <a:r>
              <a:rPr lang="az-Latn-AZ" sz="4400" b="1" i="0" dirty="0">
                <a:solidFill>
                  <a:srgbClr val="3C4043"/>
                </a:solidFill>
                <a:effectLst/>
                <a:latin typeface="Roboto" panose="02000000000000000000" pitchFamily="2" charset="0"/>
              </a:rPr>
              <a:t>               </a:t>
            </a:r>
            <a:r>
              <a:rPr lang="en-US" sz="4400" b="1" i="0" dirty="0">
                <a:solidFill>
                  <a:srgbClr val="3C4043"/>
                </a:solidFill>
                <a:effectLst/>
                <a:latin typeface="Roboto" panose="02000000000000000000" pitchFamily="2" charset="0"/>
              </a:rPr>
              <a:t>Fibonacci Search </a:t>
            </a:r>
            <a:endParaRPr lang="en-US" sz="4400" dirty="0"/>
          </a:p>
        </p:txBody>
      </p:sp>
      <p:sp>
        <p:nvSpPr>
          <p:cNvPr id="3" name="Content Placeholder 2">
            <a:extLst>
              <a:ext uri="{FF2B5EF4-FFF2-40B4-BE49-F238E27FC236}">
                <a16:creationId xmlns:a16="http://schemas.microsoft.com/office/drawing/2014/main" id="{4A90966B-8A67-46C2-8E4B-7127E3F6AA50}"/>
              </a:ext>
            </a:extLst>
          </p:cNvPr>
          <p:cNvSpPr>
            <a:spLocks noGrp="1"/>
          </p:cNvSpPr>
          <p:nvPr>
            <p:ph idx="1"/>
          </p:nvPr>
        </p:nvSpPr>
        <p:spPr/>
        <p:txBody>
          <a:bodyPr>
            <a:normAutofit fontScale="92500" lnSpcReduction="10000"/>
          </a:bodyPr>
          <a:lstStyle/>
          <a:p>
            <a:r>
              <a:rPr lang="en-US" dirty="0"/>
              <a:t>In computer science, the Fibonacci search technique is a method of searching a sorted array using a divide and conquer algorithm that narrows down possible locations with the aid of Fibonacci numbers. Compared to binary search where the sorted array is divided into two equal-sized parts, one of which is examined further, Fibonacci search divides the array into two parts that have sizes that are consecutive Fibonacci numbers. On average, this leads to about 4% more comparisons to be executed, but it has the advantage that one only needs addition and subtraction to calculate the indices of the accessed array elements, while classical binary search needs bit-shift (see Bitwise operation), division or multiplication, operations that were less common at the time Fibonacci search was first published. Fibonacci search has an average- and worst-case complexity of O(log n) (see Big O notation).</a:t>
            </a:r>
          </a:p>
        </p:txBody>
      </p:sp>
    </p:spTree>
    <p:extLst>
      <p:ext uri="{BB962C8B-B14F-4D97-AF65-F5344CB8AC3E}">
        <p14:creationId xmlns:p14="http://schemas.microsoft.com/office/powerpoint/2010/main" val="1249839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30E02-DCDA-406A-809E-A1E6F3C0DF07}"/>
              </a:ext>
            </a:extLst>
          </p:cNvPr>
          <p:cNvSpPr>
            <a:spLocks noGrp="1"/>
          </p:cNvSpPr>
          <p:nvPr>
            <p:ph type="title"/>
          </p:nvPr>
        </p:nvSpPr>
        <p:spPr>
          <a:xfrm>
            <a:off x="1447191" y="804164"/>
            <a:ext cx="9607661" cy="931872"/>
          </a:xfrm>
        </p:spPr>
        <p:txBody>
          <a:bodyPr>
            <a:normAutofit fontScale="90000"/>
          </a:bodyPr>
          <a:lstStyle/>
          <a:p>
            <a:r>
              <a:rPr lang="az-Latn-AZ" b="1" i="0" dirty="0">
                <a:solidFill>
                  <a:srgbClr val="273239"/>
                </a:solidFill>
                <a:effectLst/>
                <a:latin typeface="Source Sans 3"/>
              </a:rPr>
              <a:t>                             </a:t>
            </a:r>
            <a:r>
              <a:rPr lang="en-US" b="1" i="0" dirty="0">
                <a:solidFill>
                  <a:srgbClr val="273239"/>
                </a:solidFill>
                <a:effectLst/>
                <a:latin typeface="Source Sans 3"/>
              </a:rPr>
              <a:t>Fibonacci Search</a:t>
            </a:r>
            <a:br>
              <a:rPr lang="en-US" b="1" i="0" dirty="0">
                <a:solidFill>
                  <a:srgbClr val="273239"/>
                </a:solidFill>
                <a:effectLst/>
                <a:latin typeface="Source Sans 3"/>
              </a:rPr>
            </a:br>
            <a:endParaRPr lang="en-US" dirty="0"/>
          </a:p>
        </p:txBody>
      </p:sp>
      <p:sp>
        <p:nvSpPr>
          <p:cNvPr id="3" name="Text Placeholder 2">
            <a:extLst>
              <a:ext uri="{FF2B5EF4-FFF2-40B4-BE49-F238E27FC236}">
                <a16:creationId xmlns:a16="http://schemas.microsoft.com/office/drawing/2014/main" id="{A4E32435-A978-461E-BFBA-88C217AAC817}"/>
              </a:ext>
            </a:extLst>
          </p:cNvPr>
          <p:cNvSpPr>
            <a:spLocks noGrp="1"/>
          </p:cNvSpPr>
          <p:nvPr>
            <p:ph type="body" idx="1"/>
          </p:nvPr>
        </p:nvSpPr>
        <p:spPr>
          <a:xfrm>
            <a:off x="1447191" y="2019550"/>
            <a:ext cx="4645152" cy="3705390"/>
          </a:xfrm>
        </p:spPr>
        <p:txBody>
          <a:bodyPr>
            <a:normAutofit fontScale="92500" lnSpcReduction="10000"/>
          </a:bodyPr>
          <a:lstStyle/>
          <a:p>
            <a:endParaRPr lang="az-Latn-AZ" sz="1400" cap="none" dirty="0">
              <a:solidFill>
                <a:srgbClr val="273239"/>
              </a:solidFill>
              <a:latin typeface="Nunito" pitchFamily="2" charset="-52"/>
            </a:endParaRPr>
          </a:p>
          <a:p>
            <a:endParaRPr lang="az-Latn-AZ" sz="1400" cap="none" dirty="0">
              <a:solidFill>
                <a:srgbClr val="273239"/>
              </a:solidFill>
              <a:latin typeface="Nunito" pitchFamily="2" charset="-52"/>
            </a:endParaRPr>
          </a:p>
          <a:p>
            <a:endParaRPr lang="en-US" sz="2000" cap="none" dirty="0">
              <a:solidFill>
                <a:srgbClr val="273239"/>
              </a:solidFill>
              <a:latin typeface="Nunito" pitchFamily="2" charset="-52"/>
            </a:endParaRPr>
          </a:p>
          <a:p>
            <a:endParaRPr lang="en-US" sz="2000" cap="none" dirty="0">
              <a:solidFill>
                <a:srgbClr val="273239"/>
              </a:solidFill>
              <a:latin typeface="Nunito" pitchFamily="2" charset="-52"/>
            </a:endParaRPr>
          </a:p>
          <a:p>
            <a:endParaRPr lang="en-US" sz="2000" cap="none" dirty="0">
              <a:solidFill>
                <a:srgbClr val="273239"/>
              </a:solidFill>
              <a:latin typeface="Nunito" pitchFamily="2" charset="-52"/>
            </a:endParaRPr>
          </a:p>
          <a:p>
            <a:r>
              <a:rPr lang="en-US" sz="2000" cap="none" dirty="0">
                <a:solidFill>
                  <a:srgbClr val="273239"/>
                </a:solidFill>
                <a:latin typeface="Nunito" pitchFamily="2" charset="-52"/>
              </a:rPr>
              <a:t>Given a sorted array </a:t>
            </a:r>
            <a:r>
              <a:rPr lang="en-US" sz="2000" cap="none" dirty="0" err="1">
                <a:solidFill>
                  <a:srgbClr val="273239"/>
                </a:solidFill>
                <a:latin typeface="Nunito" pitchFamily="2" charset="-52"/>
              </a:rPr>
              <a:t>arr</a:t>
            </a:r>
            <a:r>
              <a:rPr lang="en-US" sz="2000" cap="none" dirty="0">
                <a:solidFill>
                  <a:srgbClr val="273239"/>
                </a:solidFill>
                <a:latin typeface="Nunito" pitchFamily="2" charset="-52"/>
              </a:rPr>
              <a:t>[] of size n and an element x to be searched in it. Return index of x if it is present in array else return -1.Fibonacci search is a comparison-based technique that uses </a:t>
            </a:r>
            <a:r>
              <a:rPr lang="en-US" sz="2000" cap="none" dirty="0" err="1">
                <a:solidFill>
                  <a:srgbClr val="273239"/>
                </a:solidFill>
                <a:latin typeface="Nunito" pitchFamily="2" charset="-52"/>
              </a:rPr>
              <a:t>fibonacci</a:t>
            </a:r>
            <a:r>
              <a:rPr lang="en-US" sz="2000" cap="none" dirty="0">
                <a:solidFill>
                  <a:srgbClr val="273239"/>
                </a:solidFill>
                <a:latin typeface="Nunito" pitchFamily="2" charset="-52"/>
              </a:rPr>
              <a:t> numbers to search an element in a sorted array.</a:t>
            </a:r>
            <a:endParaRPr lang="az-Latn-AZ" sz="2000" cap="none" dirty="0">
              <a:solidFill>
                <a:srgbClr val="273239"/>
              </a:solidFill>
              <a:latin typeface="Nunito" pitchFamily="2" charset="-52"/>
            </a:endParaRPr>
          </a:p>
          <a:p>
            <a:endParaRPr lang="az-Latn-AZ" sz="1400" cap="none" dirty="0">
              <a:solidFill>
                <a:srgbClr val="273239"/>
              </a:solidFill>
              <a:latin typeface="Nunito" pitchFamily="2" charset="-52"/>
            </a:endParaRPr>
          </a:p>
          <a:p>
            <a:endParaRPr lang="az-Latn-AZ" sz="1400" cap="none" dirty="0">
              <a:solidFill>
                <a:srgbClr val="273239"/>
              </a:solidFill>
              <a:latin typeface="Nunito" pitchFamily="2" charset="-52"/>
            </a:endParaRPr>
          </a:p>
          <a:p>
            <a:endParaRPr lang="az-Latn-AZ" sz="1400" cap="none" dirty="0">
              <a:solidFill>
                <a:srgbClr val="273239"/>
              </a:solidFill>
              <a:latin typeface="Nunito" pitchFamily="2" charset="-52"/>
            </a:endParaRPr>
          </a:p>
          <a:p>
            <a:endParaRPr lang="az-Latn-AZ" sz="1400" cap="none" dirty="0">
              <a:solidFill>
                <a:srgbClr val="273239"/>
              </a:solidFill>
              <a:latin typeface="Nunito" pitchFamily="2" charset="-52"/>
            </a:endParaRPr>
          </a:p>
          <a:p>
            <a:endParaRPr lang="az-Latn-AZ" sz="1400" cap="none" dirty="0">
              <a:solidFill>
                <a:srgbClr val="273239"/>
              </a:solidFill>
              <a:latin typeface="Nunito" pitchFamily="2" charset="-52"/>
            </a:endParaRPr>
          </a:p>
        </p:txBody>
      </p:sp>
      <p:pic>
        <p:nvPicPr>
          <p:cNvPr id="8" name="Content Placeholder 7">
            <a:extLst>
              <a:ext uri="{FF2B5EF4-FFF2-40B4-BE49-F238E27FC236}">
                <a16:creationId xmlns:a16="http://schemas.microsoft.com/office/drawing/2014/main" id="{1191C760-9413-4430-8243-D7A7DFF85638}"/>
              </a:ext>
            </a:extLst>
          </p:cNvPr>
          <p:cNvPicPr>
            <a:picLocks noGrp="1" noChangeAspect="1"/>
          </p:cNvPicPr>
          <p:nvPr>
            <p:ph sz="quarter" idx="4"/>
          </p:nvPr>
        </p:nvPicPr>
        <p:blipFill>
          <a:blip r:embed="rId2"/>
          <a:stretch>
            <a:fillRect/>
          </a:stretch>
        </p:blipFill>
        <p:spPr>
          <a:xfrm>
            <a:off x="6251020" y="2160103"/>
            <a:ext cx="5367949" cy="2186609"/>
          </a:xfrm>
        </p:spPr>
      </p:pic>
    </p:spTree>
    <p:extLst>
      <p:ext uri="{BB962C8B-B14F-4D97-AF65-F5344CB8AC3E}">
        <p14:creationId xmlns:p14="http://schemas.microsoft.com/office/powerpoint/2010/main" val="43187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7744-FF26-41E5-8B0B-B1C53D3C896B}"/>
              </a:ext>
            </a:extLst>
          </p:cNvPr>
          <p:cNvSpPr>
            <a:spLocks noGrp="1"/>
          </p:cNvSpPr>
          <p:nvPr>
            <p:ph type="title"/>
          </p:nvPr>
        </p:nvSpPr>
        <p:spPr/>
        <p:txBody>
          <a:bodyPr/>
          <a:lstStyle/>
          <a:p>
            <a:r>
              <a:rPr lang="en-US" dirty="0"/>
              <a:t>                          Fibonacci Search</a:t>
            </a:r>
          </a:p>
        </p:txBody>
      </p:sp>
      <p:pic>
        <p:nvPicPr>
          <p:cNvPr id="5" name="Content Placeholder 4">
            <a:extLst>
              <a:ext uri="{FF2B5EF4-FFF2-40B4-BE49-F238E27FC236}">
                <a16:creationId xmlns:a16="http://schemas.microsoft.com/office/drawing/2014/main" id="{AF836297-6F68-40E4-92E1-117900452FFF}"/>
              </a:ext>
            </a:extLst>
          </p:cNvPr>
          <p:cNvPicPr>
            <a:picLocks noGrp="1" noChangeAspect="1"/>
          </p:cNvPicPr>
          <p:nvPr>
            <p:ph idx="1"/>
          </p:nvPr>
        </p:nvPicPr>
        <p:blipFill>
          <a:blip r:embed="rId2"/>
          <a:stretch>
            <a:fillRect/>
          </a:stretch>
        </p:blipFill>
        <p:spPr>
          <a:xfrm>
            <a:off x="1563757" y="1853754"/>
            <a:ext cx="9491097" cy="4199727"/>
          </a:xfrm>
        </p:spPr>
      </p:pic>
    </p:spTree>
    <p:extLst>
      <p:ext uri="{BB962C8B-B14F-4D97-AF65-F5344CB8AC3E}">
        <p14:creationId xmlns:p14="http://schemas.microsoft.com/office/powerpoint/2010/main" val="2593207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A6DF914-33DC-4868-ACA3-BCC834A0A233}"/>
              </a:ext>
            </a:extLst>
          </p:cNvPr>
          <p:cNvSpPr txBox="1"/>
          <p:nvPr/>
        </p:nvSpPr>
        <p:spPr>
          <a:xfrm>
            <a:off x="3564836" y="0"/>
            <a:ext cx="4598504" cy="523220"/>
          </a:xfrm>
          <a:prstGeom prst="rect">
            <a:avLst/>
          </a:prstGeom>
          <a:noFill/>
        </p:spPr>
        <p:txBody>
          <a:bodyPr wrap="square" rtlCol="0">
            <a:spAutoFit/>
          </a:bodyPr>
          <a:lstStyle/>
          <a:p>
            <a:pPr algn="l"/>
            <a:r>
              <a:rPr lang="az-Latn-AZ" sz="2800" b="1" i="0" dirty="0">
                <a:solidFill>
                  <a:srgbClr val="000000"/>
                </a:solidFill>
                <a:effectLst/>
                <a:latin typeface="Linux Libertine"/>
              </a:rPr>
              <a:t>                   </a:t>
            </a:r>
            <a:r>
              <a:rPr lang="en-US" sz="2800" b="1" i="0" dirty="0">
                <a:solidFill>
                  <a:srgbClr val="000000"/>
                </a:solidFill>
                <a:effectLst/>
                <a:latin typeface="Linux Libertine"/>
              </a:rPr>
              <a:t>Algorithm</a:t>
            </a:r>
          </a:p>
        </p:txBody>
      </p:sp>
      <p:sp>
        <p:nvSpPr>
          <p:cNvPr id="6" name="TextBox 5">
            <a:extLst>
              <a:ext uri="{FF2B5EF4-FFF2-40B4-BE49-F238E27FC236}">
                <a16:creationId xmlns:a16="http://schemas.microsoft.com/office/drawing/2014/main" id="{2E4DF330-29AB-44E6-AE95-20764DF25B82}"/>
              </a:ext>
            </a:extLst>
          </p:cNvPr>
          <p:cNvSpPr txBox="1"/>
          <p:nvPr/>
        </p:nvSpPr>
        <p:spPr>
          <a:xfrm>
            <a:off x="92765" y="612844"/>
            <a:ext cx="12099235" cy="5632311"/>
          </a:xfrm>
          <a:prstGeom prst="rect">
            <a:avLst/>
          </a:prstGeom>
          <a:noFill/>
        </p:spPr>
        <p:txBody>
          <a:bodyPr wrap="square" rtlCol="0">
            <a:spAutoFit/>
          </a:bodyPr>
          <a:lstStyle/>
          <a:p>
            <a:pPr algn="l"/>
            <a:r>
              <a:rPr lang="en-US" sz="2400" b="1" i="1" dirty="0">
                <a:solidFill>
                  <a:srgbClr val="202122"/>
                </a:solidFill>
                <a:effectLst/>
                <a:latin typeface="Arial" panose="020B0604020202020204" pitchFamily="34" charset="0"/>
              </a:rPr>
              <a:t>Let k be defined as an element in F, the array of Fibonacci numbers. n = F</a:t>
            </a:r>
            <a:r>
              <a:rPr lang="en-US" sz="2400" b="1" i="1" baseline="-25000" dirty="0">
                <a:solidFill>
                  <a:srgbClr val="202122"/>
                </a:solidFill>
                <a:effectLst/>
                <a:latin typeface="Arial" panose="020B0604020202020204" pitchFamily="34" charset="0"/>
              </a:rPr>
              <a:t>m</a:t>
            </a:r>
            <a:r>
              <a:rPr lang="en-US" sz="2400" b="1" i="1" dirty="0">
                <a:solidFill>
                  <a:srgbClr val="202122"/>
                </a:solidFill>
                <a:effectLst/>
                <a:latin typeface="Arial" panose="020B0604020202020204" pitchFamily="34" charset="0"/>
              </a:rPr>
              <a:t> is the array size. If n is not a Fibonacci number, let F</a:t>
            </a:r>
            <a:r>
              <a:rPr lang="en-US" sz="2400" b="1" i="1" baseline="-25000" dirty="0">
                <a:solidFill>
                  <a:srgbClr val="202122"/>
                </a:solidFill>
                <a:effectLst/>
                <a:latin typeface="Arial" panose="020B0604020202020204" pitchFamily="34" charset="0"/>
              </a:rPr>
              <a:t>m</a:t>
            </a:r>
            <a:r>
              <a:rPr lang="en-US" sz="2400" b="1" i="1" dirty="0">
                <a:solidFill>
                  <a:srgbClr val="202122"/>
                </a:solidFill>
                <a:effectLst/>
                <a:latin typeface="Arial" panose="020B0604020202020204" pitchFamily="34" charset="0"/>
              </a:rPr>
              <a:t> be the smallest number in F that is greater than n.</a:t>
            </a:r>
          </a:p>
          <a:p>
            <a:pPr algn="l"/>
            <a:r>
              <a:rPr lang="en-US" sz="2400" b="1" i="1" dirty="0">
                <a:solidFill>
                  <a:srgbClr val="202122"/>
                </a:solidFill>
                <a:effectLst/>
                <a:latin typeface="Arial" panose="020B0604020202020204" pitchFamily="34" charset="0"/>
              </a:rPr>
              <a:t>The array of Fibonacci numbers is defined where F</a:t>
            </a:r>
            <a:r>
              <a:rPr lang="en-US" sz="2400" b="1" i="1" baseline="-25000" dirty="0">
                <a:solidFill>
                  <a:srgbClr val="202122"/>
                </a:solidFill>
                <a:effectLst/>
                <a:latin typeface="Arial" panose="020B0604020202020204" pitchFamily="34" charset="0"/>
              </a:rPr>
              <a:t>k+2</a:t>
            </a:r>
            <a:r>
              <a:rPr lang="en-US" sz="2400" b="1" i="1" dirty="0">
                <a:solidFill>
                  <a:srgbClr val="202122"/>
                </a:solidFill>
                <a:effectLst/>
                <a:latin typeface="Arial" panose="020B0604020202020204" pitchFamily="34" charset="0"/>
              </a:rPr>
              <a:t> =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 + </a:t>
            </a:r>
            <a:r>
              <a:rPr lang="en-US" sz="2400" b="1" i="1" dirty="0" err="1">
                <a:solidFill>
                  <a:srgbClr val="202122"/>
                </a:solidFill>
                <a:effectLst/>
                <a:latin typeface="Arial" panose="020B0604020202020204" pitchFamily="34" charset="0"/>
              </a:rPr>
              <a:t>F</a:t>
            </a:r>
            <a:r>
              <a:rPr lang="en-US" sz="2400" b="1" i="1" baseline="-25000" dirty="0" err="1">
                <a:solidFill>
                  <a:srgbClr val="202122"/>
                </a:solidFill>
                <a:effectLst/>
                <a:latin typeface="Arial" panose="020B0604020202020204" pitchFamily="34" charset="0"/>
              </a:rPr>
              <a:t>k</a:t>
            </a:r>
            <a:r>
              <a:rPr lang="en-US" sz="2400" b="1" i="1" dirty="0">
                <a:solidFill>
                  <a:srgbClr val="202122"/>
                </a:solidFill>
                <a:effectLst/>
                <a:latin typeface="Arial" panose="020B0604020202020204" pitchFamily="34" charset="0"/>
              </a:rPr>
              <a:t>, when k ≥ 0, F</a:t>
            </a:r>
            <a:r>
              <a:rPr lang="en-US" sz="2400" b="1" i="1" baseline="-25000" dirty="0">
                <a:solidFill>
                  <a:srgbClr val="202122"/>
                </a:solidFill>
                <a:effectLst/>
                <a:latin typeface="Arial" panose="020B0604020202020204" pitchFamily="34" charset="0"/>
              </a:rPr>
              <a:t>1</a:t>
            </a:r>
            <a:r>
              <a:rPr lang="en-US" sz="2400" b="1" i="1" dirty="0">
                <a:solidFill>
                  <a:srgbClr val="202122"/>
                </a:solidFill>
                <a:effectLst/>
                <a:latin typeface="Arial" panose="020B0604020202020204" pitchFamily="34" charset="0"/>
              </a:rPr>
              <a:t> = 1, and F</a:t>
            </a:r>
            <a:r>
              <a:rPr lang="en-US" sz="2400" b="1" i="1" baseline="-25000" dirty="0">
                <a:solidFill>
                  <a:srgbClr val="202122"/>
                </a:solidFill>
                <a:effectLst/>
                <a:latin typeface="Arial" panose="020B0604020202020204" pitchFamily="34" charset="0"/>
              </a:rPr>
              <a:t>0</a:t>
            </a:r>
            <a:r>
              <a:rPr lang="en-US" sz="2400" b="1" i="1" dirty="0">
                <a:solidFill>
                  <a:srgbClr val="202122"/>
                </a:solidFill>
                <a:effectLst/>
                <a:latin typeface="Arial" panose="020B0604020202020204" pitchFamily="34" charset="0"/>
              </a:rPr>
              <a:t> = 1.</a:t>
            </a:r>
          </a:p>
          <a:p>
            <a:pPr algn="l"/>
            <a:r>
              <a:rPr lang="en-US" sz="2400" b="1" i="1" dirty="0">
                <a:solidFill>
                  <a:srgbClr val="202122"/>
                </a:solidFill>
                <a:effectLst/>
                <a:latin typeface="Arial" panose="020B0604020202020204" pitchFamily="34" charset="0"/>
              </a:rPr>
              <a:t>To test whether an item is in the list of ordered numbers, follow these steps:</a:t>
            </a:r>
          </a:p>
          <a:p>
            <a:pPr algn="l">
              <a:buFont typeface="+mj-lt"/>
              <a:buAutoNum type="arabicPeriod"/>
            </a:pPr>
            <a:r>
              <a:rPr lang="en-US" sz="2400" b="1" i="1" dirty="0">
                <a:solidFill>
                  <a:srgbClr val="202122"/>
                </a:solidFill>
                <a:effectLst/>
                <a:latin typeface="Arial" panose="020B0604020202020204" pitchFamily="34" charset="0"/>
              </a:rPr>
              <a:t>Set k = m.</a:t>
            </a:r>
          </a:p>
          <a:p>
            <a:pPr algn="l">
              <a:buFont typeface="+mj-lt"/>
              <a:buAutoNum type="arabicPeriod"/>
            </a:pPr>
            <a:r>
              <a:rPr lang="en-US" sz="2400" b="1" i="1" dirty="0">
                <a:solidFill>
                  <a:srgbClr val="202122"/>
                </a:solidFill>
                <a:effectLst/>
                <a:latin typeface="Arial" panose="020B0604020202020204" pitchFamily="34" charset="0"/>
              </a:rPr>
              <a:t>If k = 0, stop. There is no match; the item is not in the array.</a:t>
            </a:r>
          </a:p>
          <a:p>
            <a:pPr algn="l">
              <a:buFont typeface="+mj-lt"/>
              <a:buAutoNum type="arabicPeriod"/>
            </a:pPr>
            <a:r>
              <a:rPr lang="en-US" sz="2400" b="1" i="1" dirty="0">
                <a:solidFill>
                  <a:srgbClr val="202122"/>
                </a:solidFill>
                <a:effectLst/>
                <a:latin typeface="Arial" panose="020B0604020202020204" pitchFamily="34" charset="0"/>
              </a:rPr>
              <a:t>Compare the item against element in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a:t>
            </a:r>
          </a:p>
          <a:p>
            <a:pPr algn="l">
              <a:buFont typeface="+mj-lt"/>
              <a:buAutoNum type="arabicPeriod"/>
            </a:pPr>
            <a:r>
              <a:rPr lang="en-US" sz="2400" b="1" i="1" dirty="0">
                <a:solidFill>
                  <a:srgbClr val="202122"/>
                </a:solidFill>
                <a:effectLst/>
                <a:latin typeface="Arial" panose="020B0604020202020204" pitchFamily="34" charset="0"/>
              </a:rPr>
              <a:t>If the item matches, stop.</a:t>
            </a:r>
          </a:p>
          <a:p>
            <a:pPr algn="l">
              <a:buFont typeface="+mj-lt"/>
              <a:buAutoNum type="arabicPeriod"/>
            </a:pPr>
            <a:r>
              <a:rPr lang="en-US" sz="2400" b="1" i="1" dirty="0">
                <a:solidFill>
                  <a:srgbClr val="202122"/>
                </a:solidFill>
                <a:effectLst/>
                <a:latin typeface="Arial" panose="020B0604020202020204" pitchFamily="34" charset="0"/>
              </a:rPr>
              <a:t>If the item is less than entry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 discard the elements from positions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 + 1 to n. Set k = k − 1 and return to step 2.</a:t>
            </a:r>
          </a:p>
          <a:p>
            <a:pPr algn="l">
              <a:buFont typeface="+mj-lt"/>
              <a:buAutoNum type="arabicPeriod"/>
            </a:pPr>
            <a:r>
              <a:rPr lang="en-US" sz="2400" b="1" i="1" dirty="0">
                <a:solidFill>
                  <a:srgbClr val="202122"/>
                </a:solidFill>
                <a:effectLst/>
                <a:latin typeface="Arial" panose="020B0604020202020204" pitchFamily="34" charset="0"/>
              </a:rPr>
              <a:t>If the item is greater than entry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 discard the elements from positions 1 to F</a:t>
            </a:r>
            <a:r>
              <a:rPr lang="en-US" sz="2400" b="1" i="1" baseline="-25000" dirty="0">
                <a:solidFill>
                  <a:srgbClr val="202122"/>
                </a:solidFill>
                <a:effectLst/>
                <a:latin typeface="Arial" panose="020B0604020202020204" pitchFamily="34" charset="0"/>
              </a:rPr>
              <a:t>k−1</a:t>
            </a:r>
            <a:r>
              <a:rPr lang="en-US" sz="2400" b="1" i="1" dirty="0">
                <a:solidFill>
                  <a:srgbClr val="202122"/>
                </a:solidFill>
                <a:effectLst/>
                <a:latin typeface="Arial" panose="020B0604020202020204" pitchFamily="34" charset="0"/>
              </a:rPr>
              <a:t>. Renumber the remaining elements from 1 to F</a:t>
            </a:r>
            <a:r>
              <a:rPr lang="en-US" sz="2400" b="1" i="1" baseline="-25000" dirty="0">
                <a:solidFill>
                  <a:srgbClr val="202122"/>
                </a:solidFill>
                <a:effectLst/>
                <a:latin typeface="Arial" panose="020B0604020202020204" pitchFamily="34" charset="0"/>
              </a:rPr>
              <a:t>k−2</a:t>
            </a:r>
            <a:r>
              <a:rPr lang="en-US" sz="2400" b="1" i="1" dirty="0">
                <a:solidFill>
                  <a:srgbClr val="202122"/>
                </a:solidFill>
                <a:effectLst/>
                <a:latin typeface="Arial" panose="020B0604020202020204" pitchFamily="34" charset="0"/>
              </a:rPr>
              <a:t>, set k = k − 2, and return to step 2.</a:t>
            </a:r>
          </a:p>
        </p:txBody>
      </p:sp>
    </p:spTree>
    <p:extLst>
      <p:ext uri="{BB962C8B-B14F-4D97-AF65-F5344CB8AC3E}">
        <p14:creationId xmlns:p14="http://schemas.microsoft.com/office/powerpoint/2010/main" val="3901720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4F79D-C912-460A-90D6-04662A136271}"/>
              </a:ext>
            </a:extLst>
          </p:cNvPr>
          <p:cNvSpPr>
            <a:spLocks noGrp="1"/>
          </p:cNvSpPr>
          <p:nvPr>
            <p:ph type="title"/>
          </p:nvPr>
        </p:nvSpPr>
        <p:spPr>
          <a:xfrm>
            <a:off x="1447191" y="804163"/>
            <a:ext cx="9607661" cy="852359"/>
          </a:xfrm>
        </p:spPr>
        <p:txBody>
          <a:bodyPr/>
          <a:lstStyle/>
          <a:p>
            <a:r>
              <a:rPr lang="az-Latn-AZ" b="1" i="1" dirty="0">
                <a:solidFill>
                  <a:srgbClr val="273239"/>
                </a:solidFill>
                <a:effectLst/>
                <a:latin typeface="Nunito" panose="020B0604020202020204" pitchFamily="2" charset="-52"/>
              </a:rPr>
              <a:t>                        </a:t>
            </a:r>
            <a:r>
              <a:rPr lang="en-US" b="1" i="1" dirty="0">
                <a:solidFill>
                  <a:srgbClr val="273239"/>
                </a:solidFill>
                <a:effectLst/>
                <a:latin typeface="Nunito" panose="020B0604020202020204" pitchFamily="2" charset="-52"/>
              </a:rPr>
              <a:t>Binary Search</a:t>
            </a:r>
            <a:endParaRPr lang="en-US" dirty="0"/>
          </a:p>
        </p:txBody>
      </p:sp>
      <p:sp>
        <p:nvSpPr>
          <p:cNvPr id="4" name="Content Placeholder 3">
            <a:extLst>
              <a:ext uri="{FF2B5EF4-FFF2-40B4-BE49-F238E27FC236}">
                <a16:creationId xmlns:a16="http://schemas.microsoft.com/office/drawing/2014/main" id="{ACFAB953-6282-4CAB-A39A-07ED0795FAE4}"/>
              </a:ext>
            </a:extLst>
          </p:cNvPr>
          <p:cNvSpPr>
            <a:spLocks noGrp="1"/>
          </p:cNvSpPr>
          <p:nvPr>
            <p:ph sz="half" idx="2"/>
          </p:nvPr>
        </p:nvSpPr>
        <p:spPr>
          <a:xfrm>
            <a:off x="1447191" y="2001078"/>
            <a:ext cx="4645152" cy="3511825"/>
          </a:xfrm>
        </p:spPr>
        <p:txBody>
          <a:bodyPr>
            <a:normAutofit/>
          </a:bodyPr>
          <a:lstStyle/>
          <a:p>
            <a:r>
              <a:rPr lang="en-US" sz="2200" b="1" dirty="0"/>
              <a:t>Binary Search is defined as a searching algorithm used in a sorted array by repeatedly dividing the search interval in half. The idea of binary search is to use the information that the array is sorted and reduce the time complexity to O(log N). </a:t>
            </a:r>
          </a:p>
        </p:txBody>
      </p:sp>
      <p:pic>
        <p:nvPicPr>
          <p:cNvPr id="8" name="Content Placeholder 7">
            <a:extLst>
              <a:ext uri="{FF2B5EF4-FFF2-40B4-BE49-F238E27FC236}">
                <a16:creationId xmlns:a16="http://schemas.microsoft.com/office/drawing/2014/main" id="{A3096165-D607-4464-BD70-B37B543702A6}"/>
              </a:ext>
            </a:extLst>
          </p:cNvPr>
          <p:cNvPicPr>
            <a:picLocks noGrp="1" noChangeAspect="1"/>
          </p:cNvPicPr>
          <p:nvPr>
            <p:ph sz="quarter" idx="4"/>
          </p:nvPr>
        </p:nvPicPr>
        <p:blipFill>
          <a:blip r:embed="rId2"/>
          <a:stretch>
            <a:fillRect/>
          </a:stretch>
        </p:blipFill>
        <p:spPr>
          <a:xfrm>
            <a:off x="6099659" y="2001079"/>
            <a:ext cx="5071924" cy="3352799"/>
          </a:xfrm>
        </p:spPr>
      </p:pic>
    </p:spTree>
    <p:extLst>
      <p:ext uri="{BB962C8B-B14F-4D97-AF65-F5344CB8AC3E}">
        <p14:creationId xmlns:p14="http://schemas.microsoft.com/office/powerpoint/2010/main" val="1150604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1FE32-7DC9-472A-8391-763C658269AD}"/>
              </a:ext>
            </a:extLst>
          </p:cNvPr>
          <p:cNvSpPr>
            <a:spLocks noGrp="1"/>
          </p:cNvSpPr>
          <p:nvPr>
            <p:ph type="title"/>
          </p:nvPr>
        </p:nvSpPr>
        <p:spPr>
          <a:xfrm>
            <a:off x="1446585" y="92765"/>
            <a:ext cx="9433450" cy="445009"/>
          </a:xfrm>
        </p:spPr>
        <p:txBody>
          <a:bodyPr>
            <a:normAutofit fontScale="90000"/>
          </a:bodyPr>
          <a:lstStyle/>
          <a:p>
            <a:r>
              <a:rPr lang="az-Latn-AZ" sz="2000" b="1" i="0" dirty="0">
                <a:solidFill>
                  <a:srgbClr val="273239"/>
                </a:solidFill>
                <a:effectLst/>
                <a:latin typeface="Nunito" pitchFamily="2" charset="-52"/>
              </a:rPr>
              <a:t>                               </a:t>
            </a:r>
            <a:r>
              <a:rPr lang="en-US" sz="3200" b="1" i="0" dirty="0">
                <a:solidFill>
                  <a:srgbClr val="273239"/>
                </a:solidFill>
                <a:effectLst/>
                <a:latin typeface="Nunito" pitchFamily="2" charset="-52"/>
              </a:rPr>
              <a:t>Binary Search Algorithm</a:t>
            </a:r>
            <a:endParaRPr lang="en-US" sz="3200" dirty="0"/>
          </a:p>
        </p:txBody>
      </p:sp>
      <p:pic>
        <p:nvPicPr>
          <p:cNvPr id="8" name="Content Placeholder 7">
            <a:extLst>
              <a:ext uri="{FF2B5EF4-FFF2-40B4-BE49-F238E27FC236}">
                <a16:creationId xmlns:a16="http://schemas.microsoft.com/office/drawing/2014/main" id="{22C572BD-E3C9-4875-A9ED-CE85897C98FD}"/>
              </a:ext>
            </a:extLst>
          </p:cNvPr>
          <p:cNvPicPr>
            <a:picLocks noGrp="1" noChangeAspect="1"/>
          </p:cNvPicPr>
          <p:nvPr>
            <p:ph idx="1"/>
          </p:nvPr>
        </p:nvPicPr>
        <p:blipFill>
          <a:blip r:embed="rId2"/>
          <a:stretch>
            <a:fillRect/>
          </a:stretch>
        </p:blipFill>
        <p:spPr>
          <a:xfrm>
            <a:off x="5043488" y="798974"/>
            <a:ext cx="7148512" cy="3879043"/>
          </a:xfrm>
        </p:spPr>
      </p:pic>
      <p:sp>
        <p:nvSpPr>
          <p:cNvPr id="4" name="Text Placeholder 3">
            <a:extLst>
              <a:ext uri="{FF2B5EF4-FFF2-40B4-BE49-F238E27FC236}">
                <a16:creationId xmlns:a16="http://schemas.microsoft.com/office/drawing/2014/main" id="{FB2B1D1E-10F7-4C04-BA5C-CFCBBF8E16D5}"/>
              </a:ext>
            </a:extLst>
          </p:cNvPr>
          <p:cNvSpPr>
            <a:spLocks noGrp="1"/>
          </p:cNvSpPr>
          <p:nvPr>
            <p:ph type="body" sz="half" idx="2"/>
          </p:nvPr>
        </p:nvSpPr>
        <p:spPr>
          <a:xfrm>
            <a:off x="1135816" y="798974"/>
            <a:ext cx="3519705" cy="4397626"/>
          </a:xfrm>
        </p:spPr>
        <p:txBody>
          <a:bodyPr/>
          <a:lstStyle/>
          <a:p>
            <a:pPr marL="285750" indent="-285750">
              <a:buFont typeface="Arial" panose="020B0604020202020204" pitchFamily="34" charset="0"/>
              <a:buChar char="•"/>
            </a:pPr>
            <a:r>
              <a:rPr lang="en-US" dirty="0"/>
              <a:t>In this algorithm, </a:t>
            </a:r>
          </a:p>
          <a:p>
            <a:pPr marL="285750" indent="-285750">
              <a:buFont typeface="Arial" panose="020B0604020202020204" pitchFamily="34" charset="0"/>
              <a:buChar char="•"/>
            </a:pPr>
            <a:r>
              <a:rPr lang="en-US" dirty="0"/>
              <a:t>Divide the search space into two halves by finding the middle index “mid”. </a:t>
            </a:r>
          </a:p>
        </p:txBody>
      </p:sp>
      <p:sp>
        <p:nvSpPr>
          <p:cNvPr id="6" name="TextBox 5">
            <a:extLst>
              <a:ext uri="{FF2B5EF4-FFF2-40B4-BE49-F238E27FC236}">
                <a16:creationId xmlns:a16="http://schemas.microsoft.com/office/drawing/2014/main" id="{5AB5512B-53B3-4A50-B412-9E5328DB0275}"/>
              </a:ext>
            </a:extLst>
          </p:cNvPr>
          <p:cNvSpPr txBox="1"/>
          <p:nvPr/>
        </p:nvSpPr>
        <p:spPr>
          <a:xfrm>
            <a:off x="1048925" y="2334278"/>
            <a:ext cx="4068418" cy="2862322"/>
          </a:xfrm>
          <a:prstGeom prst="rect">
            <a:avLst/>
          </a:prstGeom>
          <a:noFill/>
        </p:spPr>
        <p:txBody>
          <a:bodyPr wrap="square">
            <a:spAutoFit/>
          </a:bodyPr>
          <a:lstStyle/>
          <a:p>
            <a:pPr marL="285750" indent="-285750">
              <a:buFont typeface="Arial" panose="020B0604020202020204" pitchFamily="34" charset="0"/>
              <a:buChar char="•"/>
            </a:pPr>
            <a:r>
              <a:rPr lang="en-US" dirty="0"/>
              <a:t>Compare the middle element of the search space with the key. </a:t>
            </a:r>
          </a:p>
          <a:p>
            <a:pPr marL="285750" indent="-285750">
              <a:buFont typeface="Arial" panose="020B0604020202020204" pitchFamily="34" charset="0"/>
              <a:buChar char="•"/>
            </a:pPr>
            <a:r>
              <a:rPr lang="en-US" dirty="0"/>
              <a:t>If the key is found at middle element, the process is terminated.</a:t>
            </a:r>
          </a:p>
          <a:p>
            <a:pPr marL="285750" indent="-285750">
              <a:buFont typeface="Arial" panose="020B0604020202020204" pitchFamily="34" charset="0"/>
              <a:buChar char="•"/>
            </a:pPr>
            <a:r>
              <a:rPr lang="en-US" dirty="0"/>
              <a:t>If the key is not found at middle element, choose which half will be used as the next search space.</a:t>
            </a:r>
          </a:p>
          <a:p>
            <a:pPr marL="285750" indent="-285750">
              <a:buFont typeface="Arial" panose="020B0604020202020204" pitchFamily="34" charset="0"/>
              <a:buChar char="•"/>
            </a:pPr>
            <a:r>
              <a:rPr lang="en-US" dirty="0"/>
              <a:t>If the key is smaller than the </a:t>
            </a:r>
            <a:r>
              <a:rPr lang="en-US" dirty="0" err="1"/>
              <a:t>mddle</a:t>
            </a:r>
            <a:r>
              <a:rPr lang="en-US" dirty="0"/>
              <a:t> element, then the left side is used for next search.</a:t>
            </a:r>
          </a:p>
        </p:txBody>
      </p:sp>
    </p:spTree>
    <p:extLst>
      <p:ext uri="{BB962C8B-B14F-4D97-AF65-F5344CB8AC3E}">
        <p14:creationId xmlns:p14="http://schemas.microsoft.com/office/powerpoint/2010/main" val="520811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3A67-B63A-49F6-A246-B9E386CEF77F}"/>
              </a:ext>
            </a:extLst>
          </p:cNvPr>
          <p:cNvSpPr>
            <a:spLocks noGrp="1"/>
          </p:cNvSpPr>
          <p:nvPr>
            <p:ph type="title"/>
          </p:nvPr>
        </p:nvSpPr>
        <p:spPr>
          <a:xfrm>
            <a:off x="1451579" y="804519"/>
            <a:ext cx="9603275" cy="865255"/>
          </a:xfrm>
        </p:spPr>
        <p:txBody>
          <a:bodyPr>
            <a:normAutofit fontScale="90000"/>
          </a:bodyPr>
          <a:lstStyle/>
          <a:p>
            <a:r>
              <a:rPr lang="en-US" b="1" i="0" dirty="0">
                <a:solidFill>
                  <a:srgbClr val="273239"/>
                </a:solidFill>
                <a:effectLst/>
                <a:latin typeface="Source Sans 3"/>
              </a:rPr>
              <a:t>                                   </a:t>
            </a:r>
            <a:r>
              <a:rPr lang="en-US" sz="6000" b="1" i="0" dirty="0">
                <a:solidFill>
                  <a:srgbClr val="273239"/>
                </a:solidFill>
                <a:effectLst/>
                <a:latin typeface="Source Sans 3"/>
              </a:rPr>
              <a:t>Jump Search</a:t>
            </a:r>
            <a:br>
              <a:rPr lang="en-US" b="1" i="0" dirty="0">
                <a:solidFill>
                  <a:srgbClr val="273239"/>
                </a:solidFill>
                <a:effectLst/>
                <a:latin typeface="Source Sans 3"/>
              </a:rPr>
            </a:br>
            <a:endParaRPr lang="en-US" dirty="0"/>
          </a:p>
        </p:txBody>
      </p:sp>
      <p:sp>
        <p:nvSpPr>
          <p:cNvPr id="3" name="Content Placeholder 2">
            <a:extLst>
              <a:ext uri="{FF2B5EF4-FFF2-40B4-BE49-F238E27FC236}">
                <a16:creationId xmlns:a16="http://schemas.microsoft.com/office/drawing/2014/main" id="{C4BA6DD2-13A9-4D71-A5B9-BF856C4EC414}"/>
              </a:ext>
            </a:extLst>
          </p:cNvPr>
          <p:cNvSpPr>
            <a:spLocks noGrp="1"/>
          </p:cNvSpPr>
          <p:nvPr>
            <p:ph idx="1"/>
          </p:nvPr>
        </p:nvSpPr>
        <p:spPr>
          <a:xfrm>
            <a:off x="1" y="2015732"/>
            <a:ext cx="12192000" cy="4037749"/>
          </a:xfrm>
        </p:spPr>
        <p:txBody>
          <a:bodyPr>
            <a:normAutofit fontScale="77500" lnSpcReduction="20000"/>
          </a:bodyPr>
          <a:lstStyle/>
          <a:p>
            <a:r>
              <a:rPr lang="en-US" dirty="0"/>
              <a:t>Like Binary Search, Jump Search is a searching algorithm for sorted arrays. The basic idea is to check fewer elements (than linear search) by jumping ahead by fixed steps or skipping some elements in place of searching all elements.</a:t>
            </a:r>
          </a:p>
          <a:p>
            <a:r>
              <a:rPr lang="en-US" dirty="0"/>
              <a:t>For example, suppose we have an array </a:t>
            </a:r>
            <a:r>
              <a:rPr lang="en-US" dirty="0" err="1"/>
              <a:t>arr</a:t>
            </a:r>
            <a:r>
              <a:rPr lang="en-US" dirty="0"/>
              <a:t>[] of size n and a block (to be jumped) of size m. Then we search in the indexes </a:t>
            </a:r>
            <a:r>
              <a:rPr lang="en-US" dirty="0" err="1"/>
              <a:t>arr</a:t>
            </a:r>
            <a:r>
              <a:rPr lang="en-US" dirty="0"/>
              <a:t>[0], </a:t>
            </a:r>
            <a:r>
              <a:rPr lang="en-US" dirty="0" err="1"/>
              <a:t>arr</a:t>
            </a:r>
            <a:r>
              <a:rPr lang="en-US" dirty="0"/>
              <a:t>[m], </a:t>
            </a:r>
            <a:r>
              <a:rPr lang="en-US" dirty="0" err="1"/>
              <a:t>arr</a:t>
            </a:r>
            <a:r>
              <a:rPr lang="en-US" dirty="0"/>
              <a:t>[2m]…..</a:t>
            </a:r>
            <a:r>
              <a:rPr lang="en-US" dirty="0" err="1"/>
              <a:t>arr</a:t>
            </a:r>
            <a:r>
              <a:rPr lang="en-US" dirty="0"/>
              <a:t>[km] and so on. Once we find the interval (</a:t>
            </a:r>
            <a:r>
              <a:rPr lang="en-US" dirty="0" err="1"/>
              <a:t>arr</a:t>
            </a:r>
            <a:r>
              <a:rPr lang="en-US" dirty="0"/>
              <a:t>[km] &lt; x &lt; </a:t>
            </a:r>
            <a:r>
              <a:rPr lang="en-US" dirty="0" err="1"/>
              <a:t>arr</a:t>
            </a:r>
            <a:r>
              <a:rPr lang="en-US" dirty="0"/>
              <a:t>[(k+1)m]), we perform a linear search operation from the index km to find the element x.</a:t>
            </a:r>
          </a:p>
          <a:p>
            <a:r>
              <a:rPr lang="en-US" dirty="0"/>
              <a:t>Let’s consider the following array: (0, 1, 1, 2, 3, 5, 8, 13, 21, 34, 55, 89, 144, 233, 377, 610). The length of the array is 16. The Jump search will find the value of 55 with the following steps assuming that the block size to be jumped is 4. </a:t>
            </a:r>
          </a:p>
          <a:p>
            <a:r>
              <a:rPr lang="en-US" dirty="0"/>
              <a:t>STEP 1: Jump from index 0 to index 4; </a:t>
            </a:r>
          </a:p>
          <a:p>
            <a:r>
              <a:rPr lang="en-US" dirty="0"/>
              <a:t>STEP 2: Jump from index 4 to index 8; </a:t>
            </a:r>
          </a:p>
          <a:p>
            <a:r>
              <a:rPr lang="en-US" dirty="0"/>
              <a:t>STEP 3: Jump from index 8 to index 12; </a:t>
            </a:r>
          </a:p>
          <a:p>
            <a:r>
              <a:rPr lang="en-US" dirty="0"/>
              <a:t>STEP 4: Since the element at index 12 is greater than 55, we will jump back a step to come to index 8. </a:t>
            </a:r>
          </a:p>
          <a:p>
            <a:r>
              <a:rPr lang="en-US" dirty="0"/>
              <a:t>STEP 5: Perform a linear search from index 8 to get the element 55.</a:t>
            </a:r>
          </a:p>
        </p:txBody>
      </p:sp>
    </p:spTree>
    <p:extLst>
      <p:ext uri="{BB962C8B-B14F-4D97-AF65-F5344CB8AC3E}">
        <p14:creationId xmlns:p14="http://schemas.microsoft.com/office/powerpoint/2010/main" val="162204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B48698-8250-48F5-89A0-462A27D2E319}"/>
              </a:ext>
            </a:extLst>
          </p:cNvPr>
          <p:cNvSpPr txBox="1"/>
          <p:nvPr/>
        </p:nvSpPr>
        <p:spPr>
          <a:xfrm>
            <a:off x="1815548" y="185531"/>
            <a:ext cx="7315200" cy="369332"/>
          </a:xfrm>
          <a:prstGeom prst="rect">
            <a:avLst/>
          </a:prstGeom>
          <a:noFill/>
        </p:spPr>
        <p:txBody>
          <a:bodyPr wrap="square" rtlCol="0">
            <a:spAutoFit/>
          </a:bodyPr>
          <a:lstStyle/>
          <a:p>
            <a:pPr algn="l" fontAlgn="base"/>
            <a:r>
              <a:rPr lang="en-US" b="1" i="0" dirty="0">
                <a:solidFill>
                  <a:srgbClr val="273239"/>
                </a:solidFill>
                <a:effectLst/>
                <a:latin typeface="Nunito" pitchFamily="2" charset="-52"/>
              </a:rPr>
              <a:t>                                             Algorithm steps</a:t>
            </a:r>
          </a:p>
        </p:txBody>
      </p:sp>
      <p:sp>
        <p:nvSpPr>
          <p:cNvPr id="3" name="TextBox 2">
            <a:extLst>
              <a:ext uri="{FF2B5EF4-FFF2-40B4-BE49-F238E27FC236}">
                <a16:creationId xmlns:a16="http://schemas.microsoft.com/office/drawing/2014/main" id="{14EEC127-2EE8-4273-A9EC-7256E5AF0951}"/>
              </a:ext>
            </a:extLst>
          </p:cNvPr>
          <p:cNvSpPr txBox="1"/>
          <p:nvPr/>
        </p:nvSpPr>
        <p:spPr>
          <a:xfrm>
            <a:off x="159025" y="757101"/>
            <a:ext cx="5049079" cy="5355312"/>
          </a:xfrm>
          <a:prstGeom prst="rect">
            <a:avLst/>
          </a:prstGeom>
          <a:noFill/>
        </p:spPr>
        <p:txBody>
          <a:bodyPr wrap="square" rtlCol="0">
            <a:spAutoFit/>
          </a:bodyPr>
          <a:lstStyle/>
          <a:p>
            <a:r>
              <a:rPr lang="en-US"/>
              <a:t>Jump Search is an algorithm for finding a specific value in a sorted array by jumping through certain steps in the array.</a:t>
            </a:r>
          </a:p>
          <a:p>
            <a:r>
              <a:rPr lang="en-US"/>
              <a:t>The steps are determined by the sqrt of the length of the array. </a:t>
            </a:r>
          </a:p>
          <a:p>
            <a:r>
              <a:rPr lang="en-US"/>
              <a:t>Here is a step-by-step algorithm for the jump search:</a:t>
            </a:r>
          </a:p>
          <a:p>
            <a:r>
              <a:rPr lang="en-US"/>
              <a:t>Determine the step size m by taking the sqrt of the length of the array n.</a:t>
            </a:r>
          </a:p>
          <a:p>
            <a:r>
              <a:rPr lang="en-US"/>
              <a:t>Start at the first element of the array and jump m steps until the value at that position is greater than the target value.</a:t>
            </a:r>
          </a:p>
          <a:p>
            <a:r>
              <a:rPr lang="en-US"/>
              <a:t>Once a value greater than the target is found, perform a linear search starting from the previous step until the target is found or it is clear that the target is not in the array.</a:t>
            </a:r>
          </a:p>
          <a:p>
            <a:r>
              <a:rPr lang="en-US"/>
              <a:t>If the target is found, return its index. If not, return -1 to indicate that the target was not found in the array.</a:t>
            </a:r>
            <a:endParaRPr lang="en-US" dirty="0"/>
          </a:p>
        </p:txBody>
      </p:sp>
      <p:pic>
        <p:nvPicPr>
          <p:cNvPr id="7" name="Picture 6">
            <a:extLst>
              <a:ext uri="{FF2B5EF4-FFF2-40B4-BE49-F238E27FC236}">
                <a16:creationId xmlns:a16="http://schemas.microsoft.com/office/drawing/2014/main" id="{5EAAD2D0-55FA-48A7-A265-214DBA7AF07A}"/>
              </a:ext>
            </a:extLst>
          </p:cNvPr>
          <p:cNvPicPr>
            <a:picLocks noChangeAspect="1"/>
          </p:cNvPicPr>
          <p:nvPr/>
        </p:nvPicPr>
        <p:blipFill>
          <a:blip r:embed="rId2"/>
          <a:stretch>
            <a:fillRect/>
          </a:stretch>
        </p:blipFill>
        <p:spPr>
          <a:xfrm>
            <a:off x="5314774" y="757101"/>
            <a:ext cx="6877225" cy="4808812"/>
          </a:xfrm>
          <a:prstGeom prst="rect">
            <a:avLst/>
          </a:prstGeom>
        </p:spPr>
      </p:pic>
    </p:spTree>
    <p:extLst>
      <p:ext uri="{BB962C8B-B14F-4D97-AF65-F5344CB8AC3E}">
        <p14:creationId xmlns:p14="http://schemas.microsoft.com/office/powerpoint/2010/main" val="2702674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04195-B644-4D95-B2A4-F63F6737F457}"/>
              </a:ext>
            </a:extLst>
          </p:cNvPr>
          <p:cNvSpPr>
            <a:spLocks noGrp="1"/>
          </p:cNvSpPr>
          <p:nvPr>
            <p:ph type="title"/>
          </p:nvPr>
        </p:nvSpPr>
        <p:spPr/>
        <p:txBody>
          <a:bodyPr/>
          <a:lstStyle/>
          <a:p>
            <a:r>
              <a:rPr lang="en-US" dirty="0"/>
              <a:t>                 Exponential search</a:t>
            </a:r>
          </a:p>
        </p:txBody>
      </p:sp>
      <p:sp>
        <p:nvSpPr>
          <p:cNvPr id="3" name="Content Placeholder 2">
            <a:extLst>
              <a:ext uri="{FF2B5EF4-FFF2-40B4-BE49-F238E27FC236}">
                <a16:creationId xmlns:a16="http://schemas.microsoft.com/office/drawing/2014/main" id="{215C1DE7-D5BB-4F6A-B814-B744DC4D3EF2}"/>
              </a:ext>
            </a:extLst>
          </p:cNvPr>
          <p:cNvSpPr>
            <a:spLocks noGrp="1"/>
          </p:cNvSpPr>
          <p:nvPr>
            <p:ph idx="1"/>
          </p:nvPr>
        </p:nvSpPr>
        <p:spPr/>
        <p:txBody>
          <a:bodyPr/>
          <a:lstStyle/>
          <a:p>
            <a:r>
              <a:rPr lang="en-US" dirty="0"/>
              <a:t>In computer science, an exponential search (also called doubling search or galloping search or Struzik search) is an algorithm, created by Jon Bentley and Andrew Chi-</a:t>
            </a:r>
            <a:r>
              <a:rPr lang="en-US" dirty="0" err="1"/>
              <a:t>Chih</a:t>
            </a:r>
            <a:r>
              <a:rPr lang="en-US" dirty="0"/>
              <a:t> Yao in 1976, for searching sorted, unbounded/infinite lists.  There are numerous ways to implement this, with the most common being to determine a range that the search key resides in and performing a binary search within that range. This takes O(log </a:t>
            </a:r>
            <a:r>
              <a:rPr lang="en-US" dirty="0" err="1"/>
              <a:t>i</a:t>
            </a:r>
            <a:r>
              <a:rPr lang="en-US" dirty="0"/>
              <a:t>) where </a:t>
            </a:r>
            <a:r>
              <a:rPr lang="en-US" dirty="0" err="1"/>
              <a:t>i</a:t>
            </a:r>
            <a:r>
              <a:rPr lang="en-US" dirty="0"/>
              <a:t> is the position of the search key in the list, if the search key is in the list, or the position where the search key should be, if the search key is not in the list.</a:t>
            </a:r>
          </a:p>
        </p:txBody>
      </p:sp>
    </p:spTree>
    <p:extLst>
      <p:ext uri="{BB962C8B-B14F-4D97-AF65-F5344CB8AC3E}">
        <p14:creationId xmlns:p14="http://schemas.microsoft.com/office/powerpoint/2010/main" val="3441165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E5EE95-3464-4BB2-8139-EA643F22B452}"/>
              </a:ext>
            </a:extLst>
          </p:cNvPr>
          <p:cNvPicPr>
            <a:picLocks noChangeAspect="1"/>
          </p:cNvPicPr>
          <p:nvPr/>
        </p:nvPicPr>
        <p:blipFill>
          <a:blip r:embed="rId2"/>
          <a:stretch>
            <a:fillRect/>
          </a:stretch>
        </p:blipFill>
        <p:spPr>
          <a:xfrm>
            <a:off x="781684" y="265044"/>
            <a:ext cx="10242585" cy="5470666"/>
          </a:xfrm>
          <a:prstGeom prst="rect">
            <a:avLst/>
          </a:prstGeom>
        </p:spPr>
      </p:pic>
    </p:spTree>
    <p:extLst>
      <p:ext uri="{BB962C8B-B14F-4D97-AF65-F5344CB8AC3E}">
        <p14:creationId xmlns:p14="http://schemas.microsoft.com/office/powerpoint/2010/main" val="1765480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A6499-F412-4CFB-92B9-AAC181306118}"/>
              </a:ext>
            </a:extLst>
          </p:cNvPr>
          <p:cNvSpPr>
            <a:spLocks noGrp="1"/>
          </p:cNvSpPr>
          <p:nvPr>
            <p:ph type="title"/>
          </p:nvPr>
        </p:nvSpPr>
        <p:spPr/>
        <p:txBody>
          <a:bodyPr/>
          <a:lstStyle/>
          <a:p>
            <a:r>
              <a:rPr lang="en-US" b="0" i="0" dirty="0">
                <a:solidFill>
                  <a:srgbClr val="000000"/>
                </a:solidFill>
                <a:effectLst/>
                <a:latin typeface="Linux Libertine"/>
              </a:rPr>
              <a:t>                                       Algorithm</a:t>
            </a:r>
            <a:br>
              <a:rPr lang="en-US" b="0" i="0" dirty="0">
                <a:solidFill>
                  <a:srgbClr val="000000"/>
                </a:solidFill>
                <a:effectLst/>
                <a:latin typeface="Linux Libertine"/>
              </a:rPr>
            </a:br>
            <a:endParaRPr lang="en-US" dirty="0"/>
          </a:p>
        </p:txBody>
      </p:sp>
      <p:sp>
        <p:nvSpPr>
          <p:cNvPr id="3" name="Content Placeholder 2">
            <a:extLst>
              <a:ext uri="{FF2B5EF4-FFF2-40B4-BE49-F238E27FC236}">
                <a16:creationId xmlns:a16="http://schemas.microsoft.com/office/drawing/2014/main" id="{C3DEA797-9872-4626-953C-D55379BF5C12}"/>
              </a:ext>
            </a:extLst>
          </p:cNvPr>
          <p:cNvSpPr>
            <a:spLocks noGrp="1"/>
          </p:cNvSpPr>
          <p:nvPr>
            <p:ph sz="half" idx="1"/>
          </p:nvPr>
        </p:nvSpPr>
        <p:spPr/>
        <p:txBody>
          <a:bodyPr>
            <a:normAutofit fontScale="77500" lnSpcReduction="20000"/>
          </a:bodyPr>
          <a:lstStyle/>
          <a:p>
            <a:r>
              <a:rPr lang="en-US" dirty="0"/>
              <a:t>Exponential search allows for searching through a sorted, unbounded list for a specified input value (the search "key"). The algorithm consists of two stages. The first stage determines a range in which the search key would reside if it were in the list. In the second stage, a binary search is performed on this range. In the first stage, assuming that the list is sorted in ascending order, the algorithm looks for the first exponent, j, where the value 2j is greater than the search key. This value, 2j becomes the upper bound for the binary search with the previous power of 2, 2j - 1, being the lower bound for the binary search.</a:t>
            </a:r>
          </a:p>
        </p:txBody>
      </p:sp>
      <p:pic>
        <p:nvPicPr>
          <p:cNvPr id="6" name="Content Placeholder 5">
            <a:extLst>
              <a:ext uri="{FF2B5EF4-FFF2-40B4-BE49-F238E27FC236}">
                <a16:creationId xmlns:a16="http://schemas.microsoft.com/office/drawing/2014/main" id="{C2A64E99-700E-43E9-B8C6-4C8AA92E0D6E}"/>
              </a:ext>
            </a:extLst>
          </p:cNvPr>
          <p:cNvPicPr>
            <a:picLocks noGrp="1" noChangeAspect="1"/>
          </p:cNvPicPr>
          <p:nvPr>
            <p:ph sz="half" idx="2"/>
          </p:nvPr>
        </p:nvPicPr>
        <p:blipFill>
          <a:blip r:embed="rId2"/>
          <a:stretch>
            <a:fillRect/>
          </a:stretch>
        </p:blipFill>
        <p:spPr>
          <a:xfrm>
            <a:off x="6092483" y="2023261"/>
            <a:ext cx="5804822" cy="3117199"/>
          </a:xfrm>
        </p:spPr>
      </p:pic>
    </p:spTree>
    <p:extLst>
      <p:ext uri="{BB962C8B-B14F-4D97-AF65-F5344CB8AC3E}">
        <p14:creationId xmlns:p14="http://schemas.microsoft.com/office/powerpoint/2010/main" val="4111980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7CDC2-DDE8-4D36-B86C-9C418E8F067C}"/>
              </a:ext>
            </a:extLst>
          </p:cNvPr>
          <p:cNvSpPr>
            <a:spLocks noGrp="1"/>
          </p:cNvSpPr>
          <p:nvPr>
            <p:ph type="title"/>
          </p:nvPr>
        </p:nvSpPr>
        <p:spPr/>
        <p:txBody>
          <a:bodyPr>
            <a:normAutofit fontScale="90000"/>
          </a:bodyPr>
          <a:lstStyle/>
          <a:p>
            <a:r>
              <a:rPr lang="en-US" b="1" i="0" dirty="0">
                <a:solidFill>
                  <a:srgbClr val="273239"/>
                </a:solidFill>
                <a:effectLst/>
                <a:latin typeface="Source Sans 3"/>
              </a:rPr>
              <a:t>                             </a:t>
            </a:r>
            <a:r>
              <a:rPr lang="en-US" sz="6600" b="1" i="1" dirty="0">
                <a:solidFill>
                  <a:srgbClr val="273239"/>
                </a:solidFill>
                <a:effectLst>
                  <a:outerShdw blurRad="38100" dist="38100" dir="2700000" algn="tl">
                    <a:srgbClr val="000000">
                      <a:alpha val="43137"/>
                    </a:srgbClr>
                  </a:outerShdw>
                </a:effectLst>
                <a:latin typeface="Source Sans 3"/>
              </a:rPr>
              <a:t>Bubble Sort </a:t>
            </a:r>
            <a:br>
              <a:rPr lang="en-US" b="1" i="0" dirty="0">
                <a:solidFill>
                  <a:srgbClr val="273239"/>
                </a:solidFill>
                <a:effectLst/>
                <a:latin typeface="Source Sans 3"/>
              </a:rPr>
            </a:br>
            <a:endParaRPr lang="en-US" dirty="0"/>
          </a:p>
        </p:txBody>
      </p:sp>
      <p:sp>
        <p:nvSpPr>
          <p:cNvPr id="4" name="Content Placeholder 3">
            <a:extLst>
              <a:ext uri="{FF2B5EF4-FFF2-40B4-BE49-F238E27FC236}">
                <a16:creationId xmlns:a16="http://schemas.microsoft.com/office/drawing/2014/main" id="{714AEBBE-A4F3-4DAA-9ACA-97326AA9DDA1}"/>
              </a:ext>
            </a:extLst>
          </p:cNvPr>
          <p:cNvSpPr>
            <a:spLocks noGrp="1"/>
          </p:cNvSpPr>
          <p:nvPr>
            <p:ph sz="half" idx="2"/>
          </p:nvPr>
        </p:nvSpPr>
        <p:spPr>
          <a:xfrm>
            <a:off x="1447191" y="1860483"/>
            <a:ext cx="4645152" cy="3608244"/>
          </a:xfrm>
        </p:spPr>
        <p:txBody>
          <a:bodyPr>
            <a:normAutofit lnSpcReduction="10000"/>
          </a:bodyPr>
          <a:lstStyle/>
          <a:p>
            <a:r>
              <a:rPr lang="en-US" sz="2200" b="1" i="0" dirty="0">
                <a:solidFill>
                  <a:srgbClr val="273239"/>
                </a:solidFill>
                <a:effectLst/>
                <a:latin typeface="Nunito" pitchFamily="2" charset="-52"/>
              </a:rPr>
              <a:t>Bubble Sort</a:t>
            </a:r>
            <a:r>
              <a:rPr lang="en-US" sz="2200" b="0" i="0" dirty="0">
                <a:solidFill>
                  <a:srgbClr val="273239"/>
                </a:solidFill>
                <a:effectLst/>
                <a:latin typeface="Nunito" pitchFamily="2" charset="-52"/>
              </a:rPr>
              <a:t> is the simplest sorting </a:t>
            </a:r>
            <a:r>
              <a:rPr lang="en-US" sz="2200" b="0" i="0" dirty="0">
                <a:effectLst/>
                <a:latin typeface="Nunito" pitchFamily="2" charset="-52"/>
              </a:rPr>
              <a:t>algorithm</a:t>
            </a:r>
            <a:r>
              <a:rPr lang="en-US" sz="2200" b="0" i="0" dirty="0">
                <a:solidFill>
                  <a:srgbClr val="273239"/>
                </a:solidFill>
                <a:effectLst/>
                <a:latin typeface="Nunito" pitchFamily="2" charset="-52"/>
              </a:rPr>
              <a:t> that works by repeatedly swapping the adjacent elements if they are in the wrong order. This algorithm is not suitable for large data sets as its average and worst-case time complexity is quite high</a:t>
            </a:r>
            <a:r>
              <a:rPr lang="en-US" b="0" i="0" dirty="0">
                <a:solidFill>
                  <a:srgbClr val="273239"/>
                </a:solidFill>
                <a:effectLst/>
                <a:latin typeface="Nunito" pitchFamily="2" charset="-52"/>
              </a:rPr>
              <a:t>.</a:t>
            </a:r>
            <a:endParaRPr lang="en-US" dirty="0"/>
          </a:p>
        </p:txBody>
      </p:sp>
      <p:pic>
        <p:nvPicPr>
          <p:cNvPr id="8" name="Content Placeholder 7">
            <a:extLst>
              <a:ext uri="{FF2B5EF4-FFF2-40B4-BE49-F238E27FC236}">
                <a16:creationId xmlns:a16="http://schemas.microsoft.com/office/drawing/2014/main" id="{E0096C1C-AFF0-4F77-A580-ECBABEA40CD4}"/>
              </a:ext>
            </a:extLst>
          </p:cNvPr>
          <p:cNvPicPr>
            <a:picLocks noGrp="1" noChangeAspect="1"/>
          </p:cNvPicPr>
          <p:nvPr>
            <p:ph sz="quarter" idx="4"/>
          </p:nvPr>
        </p:nvPicPr>
        <p:blipFill>
          <a:blip r:embed="rId2"/>
          <a:stretch>
            <a:fillRect/>
          </a:stretch>
        </p:blipFill>
        <p:spPr>
          <a:xfrm>
            <a:off x="6251021" y="2438402"/>
            <a:ext cx="5587636" cy="2665136"/>
          </a:xfrm>
        </p:spPr>
      </p:pic>
    </p:spTree>
    <p:extLst>
      <p:ext uri="{BB962C8B-B14F-4D97-AF65-F5344CB8AC3E}">
        <p14:creationId xmlns:p14="http://schemas.microsoft.com/office/powerpoint/2010/main" val="1881571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E666-16BC-455C-BEDA-6DF6690ACAFC}"/>
              </a:ext>
            </a:extLst>
          </p:cNvPr>
          <p:cNvSpPr>
            <a:spLocks noGrp="1"/>
          </p:cNvSpPr>
          <p:nvPr>
            <p:ph type="title"/>
          </p:nvPr>
        </p:nvSpPr>
        <p:spPr/>
        <p:txBody>
          <a:bodyPr/>
          <a:lstStyle/>
          <a:p>
            <a:r>
              <a:rPr lang="en-US" b="1" i="0" dirty="0">
                <a:solidFill>
                  <a:srgbClr val="273239"/>
                </a:solidFill>
                <a:effectLst/>
                <a:latin typeface="Nunito" pitchFamily="2" charset="-52"/>
              </a:rPr>
              <a:t>                 Bubble Sort Algorithm</a:t>
            </a:r>
            <a:br>
              <a:rPr lang="en-US" b="1" i="0" dirty="0">
                <a:solidFill>
                  <a:srgbClr val="273239"/>
                </a:solidFill>
                <a:effectLst/>
                <a:latin typeface="Nunito" pitchFamily="2" charset="-52"/>
              </a:rPr>
            </a:br>
            <a:endParaRPr lang="en-US" dirty="0"/>
          </a:p>
        </p:txBody>
      </p:sp>
      <p:sp>
        <p:nvSpPr>
          <p:cNvPr id="3" name="Content Placeholder 2">
            <a:extLst>
              <a:ext uri="{FF2B5EF4-FFF2-40B4-BE49-F238E27FC236}">
                <a16:creationId xmlns:a16="http://schemas.microsoft.com/office/drawing/2014/main" id="{7A42DF54-6A10-44DD-9992-1B4984357AEE}"/>
              </a:ext>
            </a:extLst>
          </p:cNvPr>
          <p:cNvSpPr>
            <a:spLocks noGrp="1"/>
          </p:cNvSpPr>
          <p:nvPr>
            <p:ph sz="half" idx="1"/>
          </p:nvPr>
        </p:nvSpPr>
        <p:spPr/>
        <p:txBody>
          <a:bodyPr>
            <a:normAutofit fontScale="92500" lnSpcReduction="10000"/>
          </a:bodyPr>
          <a:lstStyle/>
          <a:p>
            <a:pPr algn="just" fontAlgn="base"/>
            <a:r>
              <a:rPr lang="en-US" b="0" i="1" dirty="0">
                <a:solidFill>
                  <a:srgbClr val="273239"/>
                </a:solidFill>
                <a:effectLst/>
                <a:latin typeface="Nunito" pitchFamily="2" charset="-52"/>
              </a:rPr>
              <a:t>In this algorithm, </a:t>
            </a:r>
          </a:p>
          <a:p>
            <a:pPr algn="just" fontAlgn="base">
              <a:buFont typeface="Arial" panose="020B0604020202020204" pitchFamily="34" charset="0"/>
              <a:buChar char="•"/>
            </a:pPr>
            <a:r>
              <a:rPr lang="en-US" b="0" i="1" dirty="0">
                <a:solidFill>
                  <a:srgbClr val="273239"/>
                </a:solidFill>
                <a:effectLst/>
                <a:latin typeface="Nunito" pitchFamily="2" charset="-52"/>
              </a:rPr>
              <a:t>traverse from left and compare adjacent elements and the higher one is placed at right side. </a:t>
            </a:r>
          </a:p>
          <a:p>
            <a:pPr algn="just" fontAlgn="base">
              <a:buFont typeface="Arial" panose="020B0604020202020204" pitchFamily="34" charset="0"/>
              <a:buChar char="•"/>
            </a:pPr>
            <a:r>
              <a:rPr lang="en-US" b="0" i="1" dirty="0">
                <a:solidFill>
                  <a:srgbClr val="273239"/>
                </a:solidFill>
                <a:effectLst/>
                <a:latin typeface="Nunito" pitchFamily="2" charset="-52"/>
              </a:rPr>
              <a:t>In this way, the largest element is moved to the rightmost end at first. </a:t>
            </a:r>
          </a:p>
          <a:p>
            <a:pPr algn="just" fontAlgn="base">
              <a:buFont typeface="Arial" panose="020B0604020202020204" pitchFamily="34" charset="0"/>
              <a:buChar char="•"/>
            </a:pPr>
            <a:r>
              <a:rPr lang="en-US" b="0" i="1" dirty="0">
                <a:solidFill>
                  <a:srgbClr val="273239"/>
                </a:solidFill>
                <a:effectLst/>
                <a:latin typeface="Nunito" pitchFamily="2" charset="-52"/>
              </a:rPr>
              <a:t>This process is then continued to find the second largest and place it and so on until the data is sorted.</a:t>
            </a:r>
          </a:p>
          <a:p>
            <a:endParaRPr lang="en-US" dirty="0"/>
          </a:p>
        </p:txBody>
      </p:sp>
      <p:pic>
        <p:nvPicPr>
          <p:cNvPr id="6" name="Content Placeholder 5">
            <a:extLst>
              <a:ext uri="{FF2B5EF4-FFF2-40B4-BE49-F238E27FC236}">
                <a16:creationId xmlns:a16="http://schemas.microsoft.com/office/drawing/2014/main" id="{24FCA3C5-532B-45CD-8757-B52391E1EC8B}"/>
              </a:ext>
            </a:extLst>
          </p:cNvPr>
          <p:cNvPicPr>
            <a:picLocks noGrp="1" noChangeAspect="1"/>
          </p:cNvPicPr>
          <p:nvPr>
            <p:ph sz="half" idx="2"/>
          </p:nvPr>
        </p:nvPicPr>
        <p:blipFill>
          <a:blip r:embed="rId2"/>
          <a:stretch>
            <a:fillRect/>
          </a:stretch>
        </p:blipFill>
        <p:spPr>
          <a:xfrm>
            <a:off x="6413500" y="2270163"/>
            <a:ext cx="4645025" cy="2936800"/>
          </a:xfrm>
        </p:spPr>
      </p:pic>
    </p:spTree>
    <p:extLst>
      <p:ext uri="{BB962C8B-B14F-4D97-AF65-F5344CB8AC3E}">
        <p14:creationId xmlns:p14="http://schemas.microsoft.com/office/powerpoint/2010/main" val="2217793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83EEC-B15B-4375-992B-1BBDCAD46FFD}"/>
              </a:ext>
            </a:extLst>
          </p:cNvPr>
          <p:cNvSpPr>
            <a:spLocks noGrp="1"/>
          </p:cNvSpPr>
          <p:nvPr>
            <p:ph type="title"/>
          </p:nvPr>
        </p:nvSpPr>
        <p:spPr/>
        <p:txBody>
          <a:bodyPr/>
          <a:lstStyle/>
          <a:p>
            <a:r>
              <a:rPr lang="az-Latn-AZ" b="1" i="0" dirty="0">
                <a:solidFill>
                  <a:srgbClr val="3C4043"/>
                </a:solidFill>
                <a:effectLst/>
                <a:latin typeface="Roboto" panose="02000000000000000000" pitchFamily="2" charset="0"/>
              </a:rPr>
              <a:t>                             </a:t>
            </a:r>
            <a:r>
              <a:rPr lang="en-US" sz="4400" b="1" i="0" dirty="0">
                <a:solidFill>
                  <a:srgbClr val="3C4043"/>
                </a:solidFill>
                <a:effectLst/>
                <a:latin typeface="Roboto" panose="02000000000000000000" pitchFamily="2" charset="0"/>
              </a:rPr>
              <a:t>Insertion Sort</a:t>
            </a:r>
            <a:endParaRPr lang="en-US" sz="4400" dirty="0"/>
          </a:p>
        </p:txBody>
      </p:sp>
      <p:sp>
        <p:nvSpPr>
          <p:cNvPr id="3" name="Content Placeholder 2">
            <a:extLst>
              <a:ext uri="{FF2B5EF4-FFF2-40B4-BE49-F238E27FC236}">
                <a16:creationId xmlns:a16="http://schemas.microsoft.com/office/drawing/2014/main" id="{46E29D67-2605-42DD-831D-B049795A9E5C}"/>
              </a:ext>
            </a:extLst>
          </p:cNvPr>
          <p:cNvSpPr>
            <a:spLocks noGrp="1"/>
          </p:cNvSpPr>
          <p:nvPr>
            <p:ph sz="half" idx="1"/>
          </p:nvPr>
        </p:nvSpPr>
        <p:spPr/>
        <p:txBody>
          <a:bodyPr>
            <a:noAutofit/>
          </a:bodyPr>
          <a:lstStyle/>
          <a:p>
            <a:r>
              <a:rPr lang="en-US" sz="2200" b="1" i="1" dirty="0">
                <a:solidFill>
                  <a:srgbClr val="273239"/>
                </a:solidFill>
                <a:effectLst/>
                <a:latin typeface="Nunito" pitchFamily="2" charset="-52"/>
              </a:rPr>
              <a:t>Insertion sort</a:t>
            </a:r>
            <a:r>
              <a:rPr lang="en-US" sz="2200" b="0" i="1" dirty="0">
                <a:solidFill>
                  <a:srgbClr val="273239"/>
                </a:solidFill>
                <a:effectLst/>
                <a:latin typeface="Nunito" pitchFamily="2" charset="-52"/>
              </a:rPr>
              <a:t> is a simple sorting algorithm that works similar to the way you sort playing cards in your hands. The array is virtually split into a sorted and an unsorted part. Values from the unsorted part are picked and placed at the correct position in the sorted part.</a:t>
            </a:r>
            <a:endParaRPr lang="en-US" sz="2200" dirty="0"/>
          </a:p>
        </p:txBody>
      </p:sp>
      <p:pic>
        <p:nvPicPr>
          <p:cNvPr id="6" name="Content Placeholder 5">
            <a:extLst>
              <a:ext uri="{FF2B5EF4-FFF2-40B4-BE49-F238E27FC236}">
                <a16:creationId xmlns:a16="http://schemas.microsoft.com/office/drawing/2014/main" id="{53379DBB-B7F8-4ECD-ACA1-C42B863EECDE}"/>
              </a:ext>
            </a:extLst>
          </p:cNvPr>
          <p:cNvPicPr>
            <a:picLocks noGrp="1" noChangeAspect="1"/>
          </p:cNvPicPr>
          <p:nvPr>
            <p:ph sz="half" idx="2"/>
          </p:nvPr>
        </p:nvPicPr>
        <p:blipFill>
          <a:blip r:embed="rId2"/>
          <a:stretch>
            <a:fillRect/>
          </a:stretch>
        </p:blipFill>
        <p:spPr>
          <a:xfrm>
            <a:off x="6851374" y="1850313"/>
            <a:ext cx="3893295" cy="3953657"/>
          </a:xfrm>
        </p:spPr>
      </p:pic>
    </p:spTree>
    <p:extLst>
      <p:ext uri="{BB962C8B-B14F-4D97-AF65-F5344CB8AC3E}">
        <p14:creationId xmlns:p14="http://schemas.microsoft.com/office/powerpoint/2010/main" val="1772220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F8C30-CE3D-4B68-819E-75815681ED37}"/>
              </a:ext>
            </a:extLst>
          </p:cNvPr>
          <p:cNvSpPr>
            <a:spLocks noGrp="1"/>
          </p:cNvSpPr>
          <p:nvPr>
            <p:ph type="title"/>
          </p:nvPr>
        </p:nvSpPr>
        <p:spPr/>
        <p:txBody>
          <a:bodyPr>
            <a:normAutofit fontScale="90000"/>
          </a:bodyPr>
          <a:lstStyle/>
          <a:p>
            <a:r>
              <a:rPr lang="az-Latn-AZ" sz="4400" b="1" i="0" dirty="0">
                <a:solidFill>
                  <a:srgbClr val="273239"/>
                </a:solidFill>
                <a:effectLst/>
                <a:latin typeface="Nunito" pitchFamily="2" charset="-52"/>
              </a:rPr>
              <a:t>           </a:t>
            </a:r>
            <a:r>
              <a:rPr lang="en-US" sz="4400" b="1" i="0" dirty="0">
                <a:solidFill>
                  <a:srgbClr val="273239"/>
                </a:solidFill>
                <a:effectLst/>
                <a:latin typeface="Nunito" pitchFamily="2" charset="-52"/>
              </a:rPr>
              <a:t>Insertion Sort Algorithm</a:t>
            </a:r>
            <a:br>
              <a:rPr lang="en-US" b="1" i="0" dirty="0">
                <a:solidFill>
                  <a:srgbClr val="273239"/>
                </a:solidFill>
                <a:effectLst/>
                <a:latin typeface="Nunito" pitchFamily="2" charset="-52"/>
              </a:rPr>
            </a:br>
            <a:endParaRPr lang="en-US" dirty="0"/>
          </a:p>
        </p:txBody>
      </p:sp>
      <p:sp>
        <p:nvSpPr>
          <p:cNvPr id="3" name="Content Placeholder 2">
            <a:extLst>
              <a:ext uri="{FF2B5EF4-FFF2-40B4-BE49-F238E27FC236}">
                <a16:creationId xmlns:a16="http://schemas.microsoft.com/office/drawing/2014/main" id="{D51DDC49-62DC-4EB9-9FE8-01A8740A7538}"/>
              </a:ext>
            </a:extLst>
          </p:cNvPr>
          <p:cNvSpPr>
            <a:spLocks noGrp="1"/>
          </p:cNvSpPr>
          <p:nvPr>
            <p:ph sz="half" idx="1"/>
          </p:nvPr>
        </p:nvSpPr>
        <p:spPr/>
        <p:txBody>
          <a:bodyPr>
            <a:noAutofit/>
          </a:bodyPr>
          <a:lstStyle/>
          <a:p>
            <a:r>
              <a:rPr lang="en-US" sz="2200" dirty="0"/>
              <a:t>To sort an array of size N in ascending order iterate over the array and compare the current element (key) to its predecessor, if the key element is smaller than its predecessor, compare it to the elements before. Move the greater elements one position up to make space for the swapped element.</a:t>
            </a:r>
          </a:p>
        </p:txBody>
      </p:sp>
      <p:pic>
        <p:nvPicPr>
          <p:cNvPr id="6" name="Content Placeholder 5">
            <a:extLst>
              <a:ext uri="{FF2B5EF4-FFF2-40B4-BE49-F238E27FC236}">
                <a16:creationId xmlns:a16="http://schemas.microsoft.com/office/drawing/2014/main" id="{C7811DA8-7305-4D61-AAAF-FF0C43E5275F}"/>
              </a:ext>
            </a:extLst>
          </p:cNvPr>
          <p:cNvPicPr>
            <a:picLocks noGrp="1" noChangeAspect="1"/>
          </p:cNvPicPr>
          <p:nvPr>
            <p:ph sz="half" idx="2"/>
          </p:nvPr>
        </p:nvPicPr>
        <p:blipFill>
          <a:blip r:embed="rId2"/>
          <a:stretch>
            <a:fillRect/>
          </a:stretch>
        </p:blipFill>
        <p:spPr>
          <a:xfrm>
            <a:off x="6252034" y="2138934"/>
            <a:ext cx="5264952" cy="3192482"/>
          </a:xfrm>
        </p:spPr>
      </p:pic>
    </p:spTree>
    <p:extLst>
      <p:ext uri="{BB962C8B-B14F-4D97-AF65-F5344CB8AC3E}">
        <p14:creationId xmlns:p14="http://schemas.microsoft.com/office/powerpoint/2010/main" val="1301477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20998-8F9E-4BAA-950F-A4FAFCDC6093}"/>
              </a:ext>
            </a:extLst>
          </p:cNvPr>
          <p:cNvSpPr>
            <a:spLocks noGrp="1"/>
          </p:cNvSpPr>
          <p:nvPr>
            <p:ph type="title"/>
          </p:nvPr>
        </p:nvSpPr>
        <p:spPr/>
        <p:txBody>
          <a:bodyPr>
            <a:normAutofit fontScale="90000"/>
          </a:bodyPr>
          <a:lstStyle/>
          <a:p>
            <a:r>
              <a:rPr lang="az-Latn-AZ" sz="6000" b="1" i="0" dirty="0">
                <a:solidFill>
                  <a:srgbClr val="273239"/>
                </a:solidFill>
                <a:effectLst/>
                <a:latin typeface="Source Sans 3"/>
              </a:rPr>
              <a:t>                      </a:t>
            </a:r>
            <a:r>
              <a:rPr lang="en-US" sz="6000" b="1" i="0" dirty="0">
                <a:solidFill>
                  <a:srgbClr val="273239"/>
                </a:solidFill>
                <a:effectLst/>
                <a:latin typeface="Source Sans 3"/>
              </a:rPr>
              <a:t>Heap Sort </a:t>
            </a:r>
            <a:br>
              <a:rPr lang="en-US" b="1" i="0" dirty="0">
                <a:solidFill>
                  <a:srgbClr val="273239"/>
                </a:solidFill>
                <a:effectLst/>
                <a:latin typeface="Source Sans 3"/>
              </a:rPr>
            </a:br>
            <a:endParaRPr lang="en-US" dirty="0"/>
          </a:p>
        </p:txBody>
      </p:sp>
      <p:sp>
        <p:nvSpPr>
          <p:cNvPr id="3" name="Content Placeholder 2">
            <a:extLst>
              <a:ext uri="{FF2B5EF4-FFF2-40B4-BE49-F238E27FC236}">
                <a16:creationId xmlns:a16="http://schemas.microsoft.com/office/drawing/2014/main" id="{3001D3D4-99D5-4254-AE04-8E8D3A905F0F}"/>
              </a:ext>
            </a:extLst>
          </p:cNvPr>
          <p:cNvSpPr>
            <a:spLocks noGrp="1"/>
          </p:cNvSpPr>
          <p:nvPr>
            <p:ph sz="half" idx="1"/>
          </p:nvPr>
        </p:nvSpPr>
        <p:spPr/>
        <p:txBody>
          <a:bodyPr/>
          <a:lstStyle/>
          <a:p>
            <a:r>
              <a:rPr lang="en-US" sz="2200" dirty="0"/>
              <a:t>Heap sort is a comparison-based sorting technique based on Binary Heap data structure. It is similar to the selection sort where we first find the minimum element and place the minimum element at the beginning. Repeat the same process for the remaining elements</a:t>
            </a:r>
            <a:r>
              <a:rPr lang="en-US" dirty="0"/>
              <a:t>.</a:t>
            </a:r>
          </a:p>
        </p:txBody>
      </p:sp>
      <p:pic>
        <p:nvPicPr>
          <p:cNvPr id="6" name="Content Placeholder 5">
            <a:extLst>
              <a:ext uri="{FF2B5EF4-FFF2-40B4-BE49-F238E27FC236}">
                <a16:creationId xmlns:a16="http://schemas.microsoft.com/office/drawing/2014/main" id="{77DB2FA6-30D5-41B1-AFB1-E3D503362C7E}"/>
              </a:ext>
            </a:extLst>
          </p:cNvPr>
          <p:cNvPicPr>
            <a:picLocks noGrp="1" noChangeAspect="1"/>
          </p:cNvPicPr>
          <p:nvPr>
            <p:ph sz="half" idx="2"/>
          </p:nvPr>
        </p:nvPicPr>
        <p:blipFill>
          <a:blip r:embed="rId2"/>
          <a:stretch>
            <a:fillRect/>
          </a:stretch>
        </p:blipFill>
        <p:spPr>
          <a:xfrm>
            <a:off x="6099519" y="2255556"/>
            <a:ext cx="5850850" cy="2346888"/>
          </a:xfrm>
        </p:spPr>
      </p:pic>
    </p:spTree>
    <p:extLst>
      <p:ext uri="{BB962C8B-B14F-4D97-AF65-F5344CB8AC3E}">
        <p14:creationId xmlns:p14="http://schemas.microsoft.com/office/powerpoint/2010/main" val="268383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D30B-7522-4F2B-8DFE-9731767C1049}"/>
              </a:ext>
            </a:extLst>
          </p:cNvPr>
          <p:cNvSpPr>
            <a:spLocks noGrp="1"/>
          </p:cNvSpPr>
          <p:nvPr>
            <p:ph type="title"/>
          </p:nvPr>
        </p:nvSpPr>
        <p:spPr/>
        <p:txBody>
          <a:bodyPr>
            <a:normAutofit fontScale="90000"/>
          </a:bodyPr>
          <a:lstStyle/>
          <a:p>
            <a:r>
              <a:rPr lang="az-Latn-AZ" b="1" i="0" dirty="0">
                <a:solidFill>
                  <a:srgbClr val="273239"/>
                </a:solidFill>
                <a:effectLst/>
                <a:latin typeface="Nunito" pitchFamily="2" charset="-52"/>
              </a:rPr>
              <a:t>               </a:t>
            </a:r>
            <a:r>
              <a:rPr lang="en-US" sz="4400" b="1" i="1" dirty="0">
                <a:solidFill>
                  <a:srgbClr val="273239"/>
                </a:solidFill>
                <a:effectLst>
                  <a:outerShdw blurRad="38100" dist="38100" dir="2700000" algn="tl">
                    <a:srgbClr val="000000">
                      <a:alpha val="43137"/>
                    </a:srgbClr>
                  </a:outerShdw>
                </a:effectLst>
                <a:latin typeface="Nunito" pitchFamily="2" charset="-52"/>
              </a:rPr>
              <a:t>Heap Sort Algorithm</a:t>
            </a:r>
            <a:br>
              <a:rPr lang="en-US" b="1" i="0" dirty="0">
                <a:solidFill>
                  <a:srgbClr val="273239"/>
                </a:solidFill>
                <a:effectLst/>
                <a:latin typeface="Nunito" pitchFamily="2" charset="-52"/>
              </a:rPr>
            </a:br>
            <a:r>
              <a:rPr lang="az-Latn-AZ" b="1" i="0" dirty="0">
                <a:solidFill>
                  <a:srgbClr val="273239"/>
                </a:solidFill>
                <a:effectLst/>
                <a:latin typeface="Nunito" pitchFamily="2" charset="-52"/>
              </a:rPr>
              <a:t> </a:t>
            </a:r>
            <a:endParaRPr lang="en-US" dirty="0"/>
          </a:p>
        </p:txBody>
      </p:sp>
      <p:sp>
        <p:nvSpPr>
          <p:cNvPr id="3" name="Content Placeholder 2">
            <a:extLst>
              <a:ext uri="{FF2B5EF4-FFF2-40B4-BE49-F238E27FC236}">
                <a16:creationId xmlns:a16="http://schemas.microsoft.com/office/drawing/2014/main" id="{0F7DDE01-A99D-4456-BF09-58AF006E371F}"/>
              </a:ext>
            </a:extLst>
          </p:cNvPr>
          <p:cNvSpPr>
            <a:spLocks noGrp="1"/>
          </p:cNvSpPr>
          <p:nvPr>
            <p:ph sz="half" idx="1"/>
          </p:nvPr>
        </p:nvSpPr>
        <p:spPr>
          <a:xfrm>
            <a:off x="1449217" y="1864194"/>
            <a:ext cx="9962791" cy="3700809"/>
          </a:xfrm>
        </p:spPr>
        <p:txBody>
          <a:bodyPr>
            <a:noAutofit/>
          </a:bodyPr>
          <a:lstStyle/>
          <a:p>
            <a:r>
              <a:rPr lang="en-US" sz="1900" dirty="0"/>
              <a:t>First convert the array into heap data structure using </a:t>
            </a:r>
            <a:r>
              <a:rPr lang="en-US" sz="1900" dirty="0" err="1"/>
              <a:t>heapify</a:t>
            </a:r>
            <a:r>
              <a:rPr lang="en-US" sz="1900" dirty="0"/>
              <a:t>, then one by one delete the root node of the Max-heap and replace it with the last node in the heap and then </a:t>
            </a:r>
            <a:r>
              <a:rPr lang="en-US" sz="1900" dirty="0" err="1"/>
              <a:t>heapify</a:t>
            </a:r>
            <a:r>
              <a:rPr lang="en-US" sz="1900" dirty="0"/>
              <a:t> the root of the heap. Repeat this process until size of heap is greater than 1.</a:t>
            </a:r>
            <a:endParaRPr lang="az-Latn-AZ" sz="1900" dirty="0"/>
          </a:p>
          <a:p>
            <a:r>
              <a:rPr lang="en-US" sz="1900" dirty="0"/>
              <a:t>Build a heap from the given input array.</a:t>
            </a:r>
          </a:p>
          <a:p>
            <a:r>
              <a:rPr lang="en-US" sz="1900" dirty="0"/>
              <a:t>Repeat the following steps until the heap contains only one element:</a:t>
            </a:r>
          </a:p>
          <a:p>
            <a:r>
              <a:rPr lang="en-US" sz="1900" dirty="0"/>
              <a:t>Swap the root element of the heap (which is the largest element) with the last element of the heap.</a:t>
            </a:r>
          </a:p>
          <a:p>
            <a:r>
              <a:rPr lang="en-US" sz="1900" dirty="0"/>
              <a:t>Remove the last element of the heap (which is now in the correct position).</a:t>
            </a:r>
          </a:p>
          <a:p>
            <a:r>
              <a:rPr lang="en-US" sz="1900" dirty="0" err="1"/>
              <a:t>Heapify</a:t>
            </a:r>
            <a:r>
              <a:rPr lang="en-US" sz="1900" dirty="0"/>
              <a:t> the remaining elements of the heap.</a:t>
            </a:r>
          </a:p>
          <a:p>
            <a:r>
              <a:rPr lang="en-US" sz="1900" dirty="0"/>
              <a:t>The sorted array is obtained by reversing the order of the elements in the input array.</a:t>
            </a:r>
          </a:p>
        </p:txBody>
      </p:sp>
    </p:spTree>
    <p:extLst>
      <p:ext uri="{BB962C8B-B14F-4D97-AF65-F5344CB8AC3E}">
        <p14:creationId xmlns:p14="http://schemas.microsoft.com/office/powerpoint/2010/main" val="973642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8BAF3-D6D1-4B2D-BB5D-B8EC0CC4C913}"/>
              </a:ext>
            </a:extLst>
          </p:cNvPr>
          <p:cNvSpPr>
            <a:spLocks noGrp="1"/>
          </p:cNvSpPr>
          <p:nvPr>
            <p:ph type="title"/>
          </p:nvPr>
        </p:nvSpPr>
        <p:spPr/>
        <p:txBody>
          <a:bodyPr>
            <a:noAutofit/>
          </a:bodyPr>
          <a:lstStyle/>
          <a:p>
            <a:r>
              <a:rPr lang="az-Latn-AZ" sz="4800" b="1" i="0" dirty="0">
                <a:solidFill>
                  <a:srgbClr val="273239"/>
                </a:solidFill>
                <a:effectLst/>
                <a:latin typeface="Source Sans 3"/>
              </a:rPr>
              <a:t>                      </a:t>
            </a:r>
            <a:r>
              <a:rPr lang="en-US" sz="4800" b="1" i="0" dirty="0">
                <a:solidFill>
                  <a:srgbClr val="273239"/>
                </a:solidFill>
                <a:effectLst/>
                <a:latin typeface="Source Sans 3"/>
              </a:rPr>
              <a:t>Merge Sort</a:t>
            </a:r>
            <a:br>
              <a:rPr lang="en-US" sz="4800" b="1" i="0" dirty="0">
                <a:solidFill>
                  <a:srgbClr val="273239"/>
                </a:solidFill>
                <a:effectLst/>
                <a:latin typeface="Source Sans 3"/>
              </a:rPr>
            </a:br>
            <a:endParaRPr lang="en-US" sz="4800" dirty="0"/>
          </a:p>
        </p:txBody>
      </p:sp>
      <p:sp>
        <p:nvSpPr>
          <p:cNvPr id="4" name="Content Placeholder 3">
            <a:extLst>
              <a:ext uri="{FF2B5EF4-FFF2-40B4-BE49-F238E27FC236}">
                <a16:creationId xmlns:a16="http://schemas.microsoft.com/office/drawing/2014/main" id="{FB9C537F-64A8-4D8D-BC27-FAF6BE86E2A7}"/>
              </a:ext>
            </a:extLst>
          </p:cNvPr>
          <p:cNvSpPr>
            <a:spLocks noGrp="1"/>
          </p:cNvSpPr>
          <p:nvPr>
            <p:ph sz="half" idx="2"/>
          </p:nvPr>
        </p:nvSpPr>
        <p:spPr>
          <a:xfrm>
            <a:off x="1447191" y="1860483"/>
            <a:ext cx="4645152" cy="3608244"/>
          </a:xfrm>
        </p:spPr>
        <p:txBody>
          <a:bodyPr>
            <a:normAutofit/>
          </a:bodyPr>
          <a:lstStyle/>
          <a:p>
            <a:r>
              <a:rPr lang="en-US" sz="2400" dirty="0"/>
              <a:t>Merge sort is defined as a sorting algorithm that works by dividing an array into smaller subarrays, sorting each subarray, and then merging the sorted subarrays back together to form the final sorted array.</a:t>
            </a:r>
          </a:p>
        </p:txBody>
      </p:sp>
      <p:pic>
        <p:nvPicPr>
          <p:cNvPr id="8" name="Content Placeholder 7">
            <a:extLst>
              <a:ext uri="{FF2B5EF4-FFF2-40B4-BE49-F238E27FC236}">
                <a16:creationId xmlns:a16="http://schemas.microsoft.com/office/drawing/2014/main" id="{CF921DBF-E139-4830-8F79-1FEC1129ADF1}"/>
              </a:ext>
            </a:extLst>
          </p:cNvPr>
          <p:cNvPicPr>
            <a:picLocks noGrp="1" noChangeAspect="1"/>
          </p:cNvPicPr>
          <p:nvPr>
            <p:ph sz="quarter" idx="4"/>
          </p:nvPr>
        </p:nvPicPr>
        <p:blipFill>
          <a:blip r:embed="rId2"/>
          <a:stretch>
            <a:fillRect/>
          </a:stretch>
        </p:blipFill>
        <p:spPr>
          <a:xfrm>
            <a:off x="6092343" y="1999054"/>
            <a:ext cx="5149929" cy="2567262"/>
          </a:xfrm>
        </p:spPr>
      </p:pic>
    </p:spTree>
    <p:extLst>
      <p:ext uri="{BB962C8B-B14F-4D97-AF65-F5344CB8AC3E}">
        <p14:creationId xmlns:p14="http://schemas.microsoft.com/office/powerpoint/2010/main" val="3653465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D225E-7B69-4AC0-9625-44C6B4FB4A35}"/>
              </a:ext>
            </a:extLst>
          </p:cNvPr>
          <p:cNvSpPr>
            <a:spLocks noGrp="1"/>
          </p:cNvSpPr>
          <p:nvPr>
            <p:ph type="title"/>
          </p:nvPr>
        </p:nvSpPr>
        <p:spPr/>
        <p:txBody>
          <a:bodyPr>
            <a:noAutofit/>
          </a:bodyPr>
          <a:lstStyle/>
          <a:p>
            <a:r>
              <a:rPr lang="az-Latn-AZ" sz="4000" b="1" i="0" dirty="0">
                <a:solidFill>
                  <a:srgbClr val="273239"/>
                </a:solidFill>
                <a:effectLst/>
                <a:latin typeface="Source Sans 3"/>
              </a:rPr>
              <a:t>                </a:t>
            </a:r>
            <a:r>
              <a:rPr lang="en-US" sz="4000" b="1" i="0" dirty="0">
                <a:solidFill>
                  <a:srgbClr val="273239"/>
                </a:solidFill>
                <a:effectLst/>
                <a:latin typeface="Source Sans 3"/>
              </a:rPr>
              <a:t>Merge Sort</a:t>
            </a:r>
            <a:r>
              <a:rPr lang="az-Latn-AZ" sz="4000" b="1" i="0" dirty="0">
                <a:solidFill>
                  <a:srgbClr val="273239"/>
                </a:solidFill>
                <a:effectLst/>
                <a:latin typeface="Source Sans 3"/>
              </a:rPr>
              <a:t> </a:t>
            </a:r>
            <a:r>
              <a:rPr lang="en-US" sz="4000" b="1" i="0" dirty="0">
                <a:solidFill>
                  <a:srgbClr val="273239"/>
                </a:solidFill>
                <a:effectLst/>
                <a:latin typeface="Source Sans 3"/>
              </a:rPr>
              <a:t>Algorithms</a:t>
            </a:r>
            <a:br>
              <a:rPr lang="en-US" sz="4000" b="1" i="0" dirty="0">
                <a:solidFill>
                  <a:srgbClr val="273239"/>
                </a:solidFill>
                <a:effectLst/>
                <a:latin typeface="Source Sans 3"/>
              </a:rPr>
            </a:br>
            <a:br>
              <a:rPr lang="en-US" sz="4000" b="1" i="0" dirty="0">
                <a:solidFill>
                  <a:srgbClr val="273239"/>
                </a:solidFill>
                <a:effectLst/>
                <a:latin typeface="Source Sans 3"/>
              </a:rPr>
            </a:br>
            <a:endParaRPr lang="en-US" sz="4000" dirty="0"/>
          </a:p>
        </p:txBody>
      </p:sp>
      <p:sp>
        <p:nvSpPr>
          <p:cNvPr id="4" name="Content Placeholder 3">
            <a:extLst>
              <a:ext uri="{FF2B5EF4-FFF2-40B4-BE49-F238E27FC236}">
                <a16:creationId xmlns:a16="http://schemas.microsoft.com/office/drawing/2014/main" id="{14E7B285-EF9D-4AF3-934F-EB087FA1290A}"/>
              </a:ext>
            </a:extLst>
          </p:cNvPr>
          <p:cNvSpPr>
            <a:spLocks noGrp="1"/>
          </p:cNvSpPr>
          <p:nvPr>
            <p:ph sz="half" idx="2"/>
          </p:nvPr>
        </p:nvSpPr>
        <p:spPr>
          <a:xfrm>
            <a:off x="1447191" y="1860483"/>
            <a:ext cx="4645152" cy="3608244"/>
          </a:xfrm>
        </p:spPr>
        <p:txBody>
          <a:bodyPr>
            <a:normAutofit fontScale="92500" lnSpcReduction="10000"/>
          </a:bodyPr>
          <a:lstStyle/>
          <a:p>
            <a:r>
              <a:rPr lang="en-US" sz="2800" dirty="0"/>
              <a:t>In simple terms, we can say that the process of merge sort is to divide the array into two halves, sort each half, and then merge the sorted halves back together. This process is repeated until the entire array is sorted.</a:t>
            </a:r>
          </a:p>
        </p:txBody>
      </p:sp>
      <p:pic>
        <p:nvPicPr>
          <p:cNvPr id="8" name="Content Placeholder 7">
            <a:extLst>
              <a:ext uri="{FF2B5EF4-FFF2-40B4-BE49-F238E27FC236}">
                <a16:creationId xmlns:a16="http://schemas.microsoft.com/office/drawing/2014/main" id="{15495886-3E91-4E37-A78E-2F49D5E68D15}"/>
              </a:ext>
            </a:extLst>
          </p:cNvPr>
          <p:cNvPicPr>
            <a:picLocks noGrp="1" noChangeAspect="1"/>
          </p:cNvPicPr>
          <p:nvPr>
            <p:ph sz="quarter" idx="4"/>
          </p:nvPr>
        </p:nvPicPr>
        <p:blipFill>
          <a:blip r:embed="rId2"/>
          <a:stretch>
            <a:fillRect/>
          </a:stretch>
        </p:blipFill>
        <p:spPr>
          <a:xfrm>
            <a:off x="6453809" y="1919560"/>
            <a:ext cx="4601043" cy="3598863"/>
          </a:xfrm>
        </p:spPr>
      </p:pic>
    </p:spTree>
    <p:extLst>
      <p:ext uri="{BB962C8B-B14F-4D97-AF65-F5344CB8AC3E}">
        <p14:creationId xmlns:p14="http://schemas.microsoft.com/office/powerpoint/2010/main" val="2452970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F5AA62-3E32-4B86-AB20-BA84CA4A03FB}"/>
              </a:ext>
            </a:extLst>
          </p:cNvPr>
          <p:cNvSpPr txBox="1"/>
          <p:nvPr/>
        </p:nvSpPr>
        <p:spPr>
          <a:xfrm>
            <a:off x="2610679" y="2133600"/>
            <a:ext cx="9793356" cy="1969770"/>
          </a:xfrm>
          <a:prstGeom prst="rect">
            <a:avLst/>
          </a:prstGeom>
          <a:noFill/>
        </p:spPr>
        <p:txBody>
          <a:bodyPr wrap="square" rtlCol="0">
            <a:spAutoFit/>
          </a:bodyPr>
          <a:lstStyle/>
          <a:p>
            <a:r>
              <a:rPr lang="az-Latn-AZ" sz="9600" dirty="0"/>
              <a:t>     </a:t>
            </a:r>
            <a:r>
              <a:rPr lang="az-Latn-AZ" sz="12200" dirty="0"/>
              <a:t>SON</a:t>
            </a:r>
            <a:endParaRPr lang="en-US" sz="12200" dirty="0"/>
          </a:p>
        </p:txBody>
      </p:sp>
    </p:spTree>
    <p:extLst>
      <p:ext uri="{BB962C8B-B14F-4D97-AF65-F5344CB8AC3E}">
        <p14:creationId xmlns:p14="http://schemas.microsoft.com/office/powerpoint/2010/main" val="1506703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107</TotalTime>
  <Words>1808</Words>
  <Application>Microsoft Office PowerPoint</Application>
  <PresentationFormat>Widescreen</PresentationFormat>
  <Paragraphs>81</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Gill Sans MT</vt:lpstr>
      <vt:lpstr>Google Sans</vt:lpstr>
      <vt:lpstr>Linux Libertine</vt:lpstr>
      <vt:lpstr>Nunito</vt:lpstr>
      <vt:lpstr>Roboto</vt:lpstr>
      <vt:lpstr>Source Sans 3</vt:lpstr>
      <vt:lpstr>Gallery</vt:lpstr>
      <vt:lpstr>Sorting Searching</vt:lpstr>
      <vt:lpstr>               Fibonacci Search </vt:lpstr>
      <vt:lpstr>                             Fibonacci Search </vt:lpstr>
      <vt:lpstr>                          Fibonacci Search</vt:lpstr>
      <vt:lpstr>PowerPoint Presentation</vt:lpstr>
      <vt:lpstr>                        Binary Search</vt:lpstr>
      <vt:lpstr>                               Binary Search Algorithm</vt:lpstr>
      <vt:lpstr>                                   Jump Search </vt:lpstr>
      <vt:lpstr>PowerPoint Presentation</vt:lpstr>
      <vt:lpstr>                 Exponential search</vt:lpstr>
      <vt:lpstr>PowerPoint Presentation</vt:lpstr>
      <vt:lpstr>                                       Algorithm </vt:lpstr>
      <vt:lpstr>                             Bubble Sort  </vt:lpstr>
      <vt:lpstr>                 Bubble Sort Algorithm </vt:lpstr>
      <vt:lpstr>                             Insertion Sort</vt:lpstr>
      <vt:lpstr>           Insertion Sort Algorithm </vt:lpstr>
      <vt:lpstr>                      Heap Sort  </vt:lpstr>
      <vt:lpstr>               Heap Sort Algorithm  </vt:lpstr>
      <vt:lpstr>                      Merge Sort </vt:lpstr>
      <vt:lpstr>                Merge Sort Algorithms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Searching</dc:title>
  <dc:creator>Gülnur Məmmədova</dc:creator>
  <cp:lastModifiedBy>Gülnur Məmmədova</cp:lastModifiedBy>
  <cp:revision>11</cp:revision>
  <dcterms:created xsi:type="dcterms:W3CDTF">2023-08-26T13:52:15Z</dcterms:created>
  <dcterms:modified xsi:type="dcterms:W3CDTF">2023-08-28T10:18:17Z</dcterms:modified>
</cp:coreProperties>
</file>